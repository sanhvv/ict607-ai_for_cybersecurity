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6418F2-4EFC-4916-9EEA-423B39CC983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DC92DD-46C0-4EE0-9B3E-89E278538322}">
      <dgm:prSet/>
      <dgm:spPr/>
      <dgm:t>
        <a:bodyPr/>
        <a:lstStyle/>
        <a:p>
          <a:pPr>
            <a:defRPr b="1"/>
          </a:pPr>
          <a:r>
            <a:rPr lang="en-US"/>
            <a:t>Limitations:</a:t>
          </a:r>
        </a:p>
      </dgm:t>
    </dgm:pt>
    <dgm:pt modelId="{D93F313C-8B8B-4DAE-AD11-47C8BB075F94}" type="parTrans" cxnId="{642C6EC2-90DA-4195-8AB3-9B880E355209}">
      <dgm:prSet/>
      <dgm:spPr/>
      <dgm:t>
        <a:bodyPr/>
        <a:lstStyle/>
        <a:p>
          <a:endParaRPr lang="en-US"/>
        </a:p>
      </dgm:t>
    </dgm:pt>
    <dgm:pt modelId="{26454826-DEAB-4F54-9A10-3A46220BF2EB}" type="sibTrans" cxnId="{642C6EC2-90DA-4195-8AB3-9B880E355209}">
      <dgm:prSet/>
      <dgm:spPr/>
      <dgm:t>
        <a:bodyPr/>
        <a:lstStyle/>
        <a:p>
          <a:endParaRPr lang="en-US"/>
        </a:p>
      </dgm:t>
    </dgm:pt>
    <dgm:pt modelId="{F345FECE-ADB0-44C4-BBBB-071A32EE95A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SVM training time</a:t>
          </a:r>
        </a:p>
      </dgm:t>
    </dgm:pt>
    <dgm:pt modelId="{05415A18-BBEB-4FEB-8CC4-4B35CF96E13C}" type="parTrans" cxnId="{07D69728-EFE4-4811-AA6E-38FAA6DA8F8C}">
      <dgm:prSet/>
      <dgm:spPr/>
      <dgm:t>
        <a:bodyPr/>
        <a:lstStyle/>
        <a:p>
          <a:endParaRPr lang="en-US"/>
        </a:p>
      </dgm:t>
    </dgm:pt>
    <dgm:pt modelId="{49F82806-F657-4082-8DB2-A63C0E180E65}" type="sibTrans" cxnId="{07D69728-EFE4-4811-AA6E-38FAA6DA8F8C}">
      <dgm:prSet/>
      <dgm:spPr/>
      <dgm:t>
        <a:bodyPr/>
        <a:lstStyle/>
        <a:p>
          <a:endParaRPr lang="en-US"/>
        </a:p>
      </dgm:t>
    </dgm:pt>
    <dgm:pt modelId="{4FD2BA31-7369-48F0-A3B4-92E3CBF97BB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Rare class imbalance</a:t>
          </a:r>
        </a:p>
      </dgm:t>
    </dgm:pt>
    <dgm:pt modelId="{B68FDA71-35D8-447D-B96B-0E4BDE1268A4}" type="parTrans" cxnId="{5D1E071D-685E-4EC3-AB7D-1EAD0C5FA792}">
      <dgm:prSet/>
      <dgm:spPr/>
      <dgm:t>
        <a:bodyPr/>
        <a:lstStyle/>
        <a:p>
          <a:endParaRPr lang="en-US"/>
        </a:p>
      </dgm:t>
    </dgm:pt>
    <dgm:pt modelId="{ECA32E11-23FA-4859-B1CA-2619D2B8D212}" type="sibTrans" cxnId="{5D1E071D-685E-4EC3-AB7D-1EAD0C5FA792}">
      <dgm:prSet/>
      <dgm:spPr/>
      <dgm:t>
        <a:bodyPr/>
        <a:lstStyle/>
        <a:p>
          <a:endParaRPr lang="en-US"/>
        </a:p>
      </dgm:t>
    </dgm:pt>
    <dgm:pt modelId="{5F287840-4234-4179-91D3-91EFDDA1CB22}">
      <dgm:prSet/>
      <dgm:spPr/>
      <dgm:t>
        <a:bodyPr/>
        <a:lstStyle/>
        <a:p>
          <a:pPr>
            <a:defRPr b="1"/>
          </a:pPr>
          <a:r>
            <a:rPr lang="en-US"/>
            <a:t>Future Work:</a:t>
          </a:r>
        </a:p>
      </dgm:t>
    </dgm:pt>
    <dgm:pt modelId="{CAB819C8-240C-44C5-BB72-F32EC4EEE164}" type="parTrans" cxnId="{0F4DD48A-33AF-4F51-9E07-BBF9A6AFEA70}">
      <dgm:prSet/>
      <dgm:spPr/>
      <dgm:t>
        <a:bodyPr/>
        <a:lstStyle/>
        <a:p>
          <a:endParaRPr lang="en-US"/>
        </a:p>
      </dgm:t>
    </dgm:pt>
    <dgm:pt modelId="{30268764-E5C3-45D9-86AC-48085214CE6A}" type="sibTrans" cxnId="{0F4DD48A-33AF-4F51-9E07-BBF9A6AFEA70}">
      <dgm:prSet/>
      <dgm:spPr/>
      <dgm:t>
        <a:bodyPr/>
        <a:lstStyle/>
        <a:p>
          <a:endParaRPr lang="en-US"/>
        </a:p>
      </dgm:t>
    </dgm:pt>
    <dgm:pt modelId="{D0B54941-7562-423E-9E6B-9C03524DA16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Hyperparameter tuning (e.g., GridSearchCV)</a:t>
          </a:r>
        </a:p>
      </dgm:t>
    </dgm:pt>
    <dgm:pt modelId="{22628B7F-3A1F-420B-913C-AD179D4C0EDE}" type="parTrans" cxnId="{217B55B8-E772-443D-A787-63A8912B566F}">
      <dgm:prSet/>
      <dgm:spPr/>
      <dgm:t>
        <a:bodyPr/>
        <a:lstStyle/>
        <a:p>
          <a:endParaRPr lang="en-US"/>
        </a:p>
      </dgm:t>
    </dgm:pt>
    <dgm:pt modelId="{79BAB7A6-1E7A-4DDB-9E18-DD78F0033B89}" type="sibTrans" cxnId="{217B55B8-E772-443D-A787-63A8912B566F}">
      <dgm:prSet/>
      <dgm:spPr/>
      <dgm:t>
        <a:bodyPr/>
        <a:lstStyle/>
        <a:p>
          <a:endParaRPr lang="en-US"/>
        </a:p>
      </dgm:t>
    </dgm:pt>
    <dgm:pt modelId="{13EC302A-F7D8-41D6-8952-5BE69DD876D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Try real-time or streaming datasets</a:t>
          </a:r>
        </a:p>
      </dgm:t>
    </dgm:pt>
    <dgm:pt modelId="{6608DC2C-59CA-40DA-9354-F88F16F78929}" type="parTrans" cxnId="{548A40EF-6411-403E-8B3C-C0992136A1CD}">
      <dgm:prSet/>
      <dgm:spPr/>
      <dgm:t>
        <a:bodyPr/>
        <a:lstStyle/>
        <a:p>
          <a:endParaRPr lang="en-US"/>
        </a:p>
      </dgm:t>
    </dgm:pt>
    <dgm:pt modelId="{730D50BF-6B78-4C61-8AEC-3303684FC12E}" type="sibTrans" cxnId="{548A40EF-6411-403E-8B3C-C0992136A1CD}">
      <dgm:prSet/>
      <dgm:spPr/>
      <dgm:t>
        <a:bodyPr/>
        <a:lstStyle/>
        <a:p>
          <a:endParaRPr lang="en-US"/>
        </a:p>
      </dgm:t>
    </dgm:pt>
    <dgm:pt modelId="{21E2B2D5-C7EC-40E8-B419-DECC34B7CFE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Explore LightGBM, Deep Learning</a:t>
          </a:r>
        </a:p>
      </dgm:t>
    </dgm:pt>
    <dgm:pt modelId="{E2323834-873A-4E05-AD3E-569F6EBB4F8E}" type="parTrans" cxnId="{64F3D4F5-1C37-4E93-BBBF-364DEC8C0313}">
      <dgm:prSet/>
      <dgm:spPr/>
      <dgm:t>
        <a:bodyPr/>
        <a:lstStyle/>
        <a:p>
          <a:endParaRPr lang="en-US"/>
        </a:p>
      </dgm:t>
    </dgm:pt>
    <dgm:pt modelId="{A174032E-8699-4E79-BDB4-9280FD263372}" type="sibTrans" cxnId="{64F3D4F5-1C37-4E93-BBBF-364DEC8C0313}">
      <dgm:prSet/>
      <dgm:spPr/>
      <dgm:t>
        <a:bodyPr/>
        <a:lstStyle/>
        <a:p>
          <a:endParaRPr lang="en-US"/>
        </a:p>
      </dgm:t>
    </dgm:pt>
    <dgm:pt modelId="{E68C22BA-E67E-4291-81B0-324D26AA06BB}" type="pres">
      <dgm:prSet presAssocID="{466418F2-4EFC-4916-9EEA-423B39CC983A}" presName="root" presStyleCnt="0">
        <dgm:presLayoutVars>
          <dgm:dir/>
          <dgm:resizeHandles val="exact"/>
        </dgm:presLayoutVars>
      </dgm:prSet>
      <dgm:spPr/>
    </dgm:pt>
    <dgm:pt modelId="{DDE22ED1-0D63-4F2E-98F9-EF6F6D9BB1AA}" type="pres">
      <dgm:prSet presAssocID="{93DC92DD-46C0-4EE0-9B3E-89E278538322}" presName="compNode" presStyleCnt="0"/>
      <dgm:spPr/>
    </dgm:pt>
    <dgm:pt modelId="{EE51DB49-15E0-447A-8CF0-63C50D9F3747}" type="pres">
      <dgm:prSet presAssocID="{93DC92DD-46C0-4EE0-9B3E-89E27853832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CA8C24A-C757-4504-A4C8-5B7E8086679D}" type="pres">
      <dgm:prSet presAssocID="{93DC92DD-46C0-4EE0-9B3E-89E278538322}" presName="iconSpace" presStyleCnt="0"/>
      <dgm:spPr/>
    </dgm:pt>
    <dgm:pt modelId="{5455B485-F059-4D55-8CE9-E5E19D1F23A7}" type="pres">
      <dgm:prSet presAssocID="{93DC92DD-46C0-4EE0-9B3E-89E278538322}" presName="parTx" presStyleLbl="revTx" presStyleIdx="0" presStyleCnt="4">
        <dgm:presLayoutVars>
          <dgm:chMax val="0"/>
          <dgm:chPref val="0"/>
        </dgm:presLayoutVars>
      </dgm:prSet>
      <dgm:spPr/>
    </dgm:pt>
    <dgm:pt modelId="{706F55C3-FFD6-47C4-918E-D49759DCB3B7}" type="pres">
      <dgm:prSet presAssocID="{93DC92DD-46C0-4EE0-9B3E-89E278538322}" presName="txSpace" presStyleCnt="0"/>
      <dgm:spPr/>
    </dgm:pt>
    <dgm:pt modelId="{F8CE638D-73D8-4F72-8DF8-BCA8DD763A34}" type="pres">
      <dgm:prSet presAssocID="{93DC92DD-46C0-4EE0-9B3E-89E278538322}" presName="desTx" presStyleLbl="revTx" presStyleIdx="1" presStyleCnt="4">
        <dgm:presLayoutVars/>
      </dgm:prSet>
      <dgm:spPr/>
    </dgm:pt>
    <dgm:pt modelId="{DF18B164-BEA6-4C33-95B3-879614DB6FC3}" type="pres">
      <dgm:prSet presAssocID="{26454826-DEAB-4F54-9A10-3A46220BF2EB}" presName="sibTrans" presStyleCnt="0"/>
      <dgm:spPr/>
    </dgm:pt>
    <dgm:pt modelId="{F2F263EE-7835-455B-AF77-9354DEE0ADC8}" type="pres">
      <dgm:prSet presAssocID="{5F287840-4234-4179-91D3-91EFDDA1CB22}" presName="compNode" presStyleCnt="0"/>
      <dgm:spPr/>
    </dgm:pt>
    <dgm:pt modelId="{65B404F9-E46E-43EC-985A-C1B3B07BFD0D}" type="pres">
      <dgm:prSet presAssocID="{5F287840-4234-4179-91D3-91EFDDA1CB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474B6CB3-BE0D-44F3-BBD0-79313AAAD63D}" type="pres">
      <dgm:prSet presAssocID="{5F287840-4234-4179-91D3-91EFDDA1CB22}" presName="iconSpace" presStyleCnt="0"/>
      <dgm:spPr/>
    </dgm:pt>
    <dgm:pt modelId="{053CA437-87B5-41DF-9507-A7D94A87B08C}" type="pres">
      <dgm:prSet presAssocID="{5F287840-4234-4179-91D3-91EFDDA1CB22}" presName="parTx" presStyleLbl="revTx" presStyleIdx="2" presStyleCnt="4">
        <dgm:presLayoutVars>
          <dgm:chMax val="0"/>
          <dgm:chPref val="0"/>
        </dgm:presLayoutVars>
      </dgm:prSet>
      <dgm:spPr/>
    </dgm:pt>
    <dgm:pt modelId="{ECBB11B8-C65D-46CE-98A3-3373B4B0CD53}" type="pres">
      <dgm:prSet presAssocID="{5F287840-4234-4179-91D3-91EFDDA1CB22}" presName="txSpace" presStyleCnt="0"/>
      <dgm:spPr/>
    </dgm:pt>
    <dgm:pt modelId="{254CAA97-F7DB-4011-93A8-4AA415E668AD}" type="pres">
      <dgm:prSet presAssocID="{5F287840-4234-4179-91D3-91EFDDA1CB22}" presName="desTx" presStyleLbl="revTx" presStyleIdx="3" presStyleCnt="4">
        <dgm:presLayoutVars/>
      </dgm:prSet>
      <dgm:spPr/>
    </dgm:pt>
  </dgm:ptLst>
  <dgm:cxnLst>
    <dgm:cxn modelId="{5D1E071D-685E-4EC3-AB7D-1EAD0C5FA792}" srcId="{93DC92DD-46C0-4EE0-9B3E-89E278538322}" destId="{4FD2BA31-7369-48F0-A3B4-92E3CBF97BB4}" srcOrd="1" destOrd="0" parTransId="{B68FDA71-35D8-447D-B96B-0E4BDE1268A4}" sibTransId="{ECA32E11-23FA-4859-B1CA-2619D2B8D212}"/>
    <dgm:cxn modelId="{07D69728-EFE4-4811-AA6E-38FAA6DA8F8C}" srcId="{93DC92DD-46C0-4EE0-9B3E-89E278538322}" destId="{F345FECE-ADB0-44C4-BBBB-071A32EE95A5}" srcOrd="0" destOrd="0" parTransId="{05415A18-BBEB-4FEB-8CC4-4B35CF96E13C}" sibTransId="{49F82806-F657-4082-8DB2-A63C0E180E65}"/>
    <dgm:cxn modelId="{778EEC6B-67E3-427F-BC99-8F598C9440AB}" type="presOf" srcId="{466418F2-4EFC-4916-9EEA-423B39CC983A}" destId="{E68C22BA-E67E-4291-81B0-324D26AA06BB}" srcOrd="0" destOrd="0" presId="urn:microsoft.com/office/officeart/2018/5/layout/CenteredIconLabelDescriptionList"/>
    <dgm:cxn modelId="{E9123A70-9F0C-4B38-A412-3966A7F46C6A}" type="presOf" srcId="{5F287840-4234-4179-91D3-91EFDDA1CB22}" destId="{053CA437-87B5-41DF-9507-A7D94A87B08C}" srcOrd="0" destOrd="0" presId="urn:microsoft.com/office/officeart/2018/5/layout/CenteredIconLabelDescriptionList"/>
    <dgm:cxn modelId="{0F4DD48A-33AF-4F51-9E07-BBF9A6AFEA70}" srcId="{466418F2-4EFC-4916-9EEA-423B39CC983A}" destId="{5F287840-4234-4179-91D3-91EFDDA1CB22}" srcOrd="1" destOrd="0" parTransId="{CAB819C8-240C-44C5-BB72-F32EC4EEE164}" sibTransId="{30268764-E5C3-45D9-86AC-48085214CE6A}"/>
    <dgm:cxn modelId="{217B55B8-E772-443D-A787-63A8912B566F}" srcId="{5F287840-4234-4179-91D3-91EFDDA1CB22}" destId="{D0B54941-7562-423E-9E6B-9C03524DA160}" srcOrd="0" destOrd="0" parTransId="{22628B7F-3A1F-420B-913C-AD179D4C0EDE}" sibTransId="{79BAB7A6-1E7A-4DDB-9E18-DD78F0033B89}"/>
    <dgm:cxn modelId="{320A8ABA-4667-4964-B707-AA2A5EB6F276}" type="presOf" srcId="{F345FECE-ADB0-44C4-BBBB-071A32EE95A5}" destId="{F8CE638D-73D8-4F72-8DF8-BCA8DD763A34}" srcOrd="0" destOrd="0" presId="urn:microsoft.com/office/officeart/2018/5/layout/CenteredIconLabelDescriptionList"/>
    <dgm:cxn modelId="{75AC69BC-7D9E-4A37-B0B5-A9F45E6C892C}" type="presOf" srcId="{21E2B2D5-C7EC-40E8-B419-DECC34B7CFE7}" destId="{254CAA97-F7DB-4011-93A8-4AA415E668AD}" srcOrd="0" destOrd="2" presId="urn:microsoft.com/office/officeart/2018/5/layout/CenteredIconLabelDescriptionList"/>
    <dgm:cxn modelId="{8CCB9EBE-7591-4A75-B107-B9B2AC1D8A57}" type="presOf" srcId="{D0B54941-7562-423E-9E6B-9C03524DA160}" destId="{254CAA97-F7DB-4011-93A8-4AA415E668AD}" srcOrd="0" destOrd="0" presId="urn:microsoft.com/office/officeart/2018/5/layout/CenteredIconLabelDescriptionList"/>
    <dgm:cxn modelId="{642C6EC2-90DA-4195-8AB3-9B880E355209}" srcId="{466418F2-4EFC-4916-9EEA-423B39CC983A}" destId="{93DC92DD-46C0-4EE0-9B3E-89E278538322}" srcOrd="0" destOrd="0" parTransId="{D93F313C-8B8B-4DAE-AD11-47C8BB075F94}" sibTransId="{26454826-DEAB-4F54-9A10-3A46220BF2EB}"/>
    <dgm:cxn modelId="{A09ED8D4-6A54-48EF-888F-84DB459E541D}" type="presOf" srcId="{13EC302A-F7D8-41D6-8952-5BE69DD876D1}" destId="{254CAA97-F7DB-4011-93A8-4AA415E668AD}" srcOrd="0" destOrd="1" presId="urn:microsoft.com/office/officeart/2018/5/layout/CenteredIconLabelDescriptionList"/>
    <dgm:cxn modelId="{F47BE0DA-8EA3-43DC-BF2A-93F19599EE44}" type="presOf" srcId="{4FD2BA31-7369-48F0-A3B4-92E3CBF97BB4}" destId="{F8CE638D-73D8-4F72-8DF8-BCA8DD763A34}" srcOrd="0" destOrd="1" presId="urn:microsoft.com/office/officeart/2018/5/layout/CenteredIconLabelDescriptionList"/>
    <dgm:cxn modelId="{88B8CCED-7C27-4785-BC48-B7BDD8DD1C6D}" type="presOf" srcId="{93DC92DD-46C0-4EE0-9B3E-89E278538322}" destId="{5455B485-F059-4D55-8CE9-E5E19D1F23A7}" srcOrd="0" destOrd="0" presId="urn:microsoft.com/office/officeart/2018/5/layout/CenteredIconLabelDescriptionList"/>
    <dgm:cxn modelId="{548A40EF-6411-403E-8B3C-C0992136A1CD}" srcId="{5F287840-4234-4179-91D3-91EFDDA1CB22}" destId="{13EC302A-F7D8-41D6-8952-5BE69DD876D1}" srcOrd="1" destOrd="0" parTransId="{6608DC2C-59CA-40DA-9354-F88F16F78929}" sibTransId="{730D50BF-6B78-4C61-8AEC-3303684FC12E}"/>
    <dgm:cxn modelId="{64F3D4F5-1C37-4E93-BBBF-364DEC8C0313}" srcId="{5F287840-4234-4179-91D3-91EFDDA1CB22}" destId="{21E2B2D5-C7EC-40E8-B419-DECC34B7CFE7}" srcOrd="2" destOrd="0" parTransId="{E2323834-873A-4E05-AD3E-569F6EBB4F8E}" sibTransId="{A174032E-8699-4E79-BDB4-9280FD263372}"/>
    <dgm:cxn modelId="{9B363BA6-97F1-4F10-9FBB-9344EB75C7BF}" type="presParOf" srcId="{E68C22BA-E67E-4291-81B0-324D26AA06BB}" destId="{DDE22ED1-0D63-4F2E-98F9-EF6F6D9BB1AA}" srcOrd="0" destOrd="0" presId="urn:microsoft.com/office/officeart/2018/5/layout/CenteredIconLabelDescriptionList"/>
    <dgm:cxn modelId="{137262B3-C069-4DD4-A4AA-449E685392E5}" type="presParOf" srcId="{DDE22ED1-0D63-4F2E-98F9-EF6F6D9BB1AA}" destId="{EE51DB49-15E0-447A-8CF0-63C50D9F3747}" srcOrd="0" destOrd="0" presId="urn:microsoft.com/office/officeart/2018/5/layout/CenteredIconLabelDescriptionList"/>
    <dgm:cxn modelId="{DD1FC14B-6E52-4D5F-9D7B-F7743BB41823}" type="presParOf" srcId="{DDE22ED1-0D63-4F2E-98F9-EF6F6D9BB1AA}" destId="{4CA8C24A-C757-4504-A4C8-5B7E8086679D}" srcOrd="1" destOrd="0" presId="urn:microsoft.com/office/officeart/2018/5/layout/CenteredIconLabelDescriptionList"/>
    <dgm:cxn modelId="{EA248598-7475-4D80-B00E-D75B1A8DC693}" type="presParOf" srcId="{DDE22ED1-0D63-4F2E-98F9-EF6F6D9BB1AA}" destId="{5455B485-F059-4D55-8CE9-E5E19D1F23A7}" srcOrd="2" destOrd="0" presId="urn:microsoft.com/office/officeart/2018/5/layout/CenteredIconLabelDescriptionList"/>
    <dgm:cxn modelId="{A24DDBD0-1E8D-4AF7-9C8C-0CE6ADEEC69A}" type="presParOf" srcId="{DDE22ED1-0D63-4F2E-98F9-EF6F6D9BB1AA}" destId="{706F55C3-FFD6-47C4-918E-D49759DCB3B7}" srcOrd="3" destOrd="0" presId="urn:microsoft.com/office/officeart/2018/5/layout/CenteredIconLabelDescriptionList"/>
    <dgm:cxn modelId="{3B690185-E6E4-46E6-A963-D846A865059D}" type="presParOf" srcId="{DDE22ED1-0D63-4F2E-98F9-EF6F6D9BB1AA}" destId="{F8CE638D-73D8-4F72-8DF8-BCA8DD763A34}" srcOrd="4" destOrd="0" presId="urn:microsoft.com/office/officeart/2018/5/layout/CenteredIconLabelDescriptionList"/>
    <dgm:cxn modelId="{D948C4C3-3806-47ED-83CD-B8B384DAB19C}" type="presParOf" srcId="{E68C22BA-E67E-4291-81B0-324D26AA06BB}" destId="{DF18B164-BEA6-4C33-95B3-879614DB6FC3}" srcOrd="1" destOrd="0" presId="urn:microsoft.com/office/officeart/2018/5/layout/CenteredIconLabelDescriptionList"/>
    <dgm:cxn modelId="{704AF874-1C78-48D9-8654-1B1C1256CCD3}" type="presParOf" srcId="{E68C22BA-E67E-4291-81B0-324D26AA06BB}" destId="{F2F263EE-7835-455B-AF77-9354DEE0ADC8}" srcOrd="2" destOrd="0" presId="urn:microsoft.com/office/officeart/2018/5/layout/CenteredIconLabelDescriptionList"/>
    <dgm:cxn modelId="{9973007C-2CEB-4D78-B21D-E4F922CE186D}" type="presParOf" srcId="{F2F263EE-7835-455B-AF77-9354DEE0ADC8}" destId="{65B404F9-E46E-43EC-985A-C1B3B07BFD0D}" srcOrd="0" destOrd="0" presId="urn:microsoft.com/office/officeart/2018/5/layout/CenteredIconLabelDescriptionList"/>
    <dgm:cxn modelId="{E575D28D-B6B2-40AC-AA5A-0CC76AE5D373}" type="presParOf" srcId="{F2F263EE-7835-455B-AF77-9354DEE0ADC8}" destId="{474B6CB3-BE0D-44F3-BBD0-79313AAAD63D}" srcOrd="1" destOrd="0" presId="urn:microsoft.com/office/officeart/2018/5/layout/CenteredIconLabelDescriptionList"/>
    <dgm:cxn modelId="{15335FAA-E0BD-4305-A22F-F1E32689B21A}" type="presParOf" srcId="{F2F263EE-7835-455B-AF77-9354DEE0ADC8}" destId="{053CA437-87B5-41DF-9507-A7D94A87B08C}" srcOrd="2" destOrd="0" presId="urn:microsoft.com/office/officeart/2018/5/layout/CenteredIconLabelDescriptionList"/>
    <dgm:cxn modelId="{ED552365-716A-42C2-9B43-7E2FDC6E5994}" type="presParOf" srcId="{F2F263EE-7835-455B-AF77-9354DEE0ADC8}" destId="{ECBB11B8-C65D-46CE-98A3-3373B4B0CD53}" srcOrd="3" destOrd="0" presId="urn:microsoft.com/office/officeart/2018/5/layout/CenteredIconLabelDescriptionList"/>
    <dgm:cxn modelId="{842B6121-EC7D-4B11-9BB1-61A179DAB0BE}" type="presParOf" srcId="{F2F263EE-7835-455B-AF77-9354DEE0ADC8}" destId="{254CAA97-F7DB-4011-93A8-4AA415E668A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D1CB32-7749-40C3-B1F0-1CC189C0E30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FC35803-E8F8-4837-9F0D-28A2786684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ML models are effective for intrusion detection</a:t>
          </a:r>
        </a:p>
      </dgm:t>
    </dgm:pt>
    <dgm:pt modelId="{E200924F-C3FD-4192-9CE1-53A71E857452}" type="parTrans" cxnId="{BA11ABD1-B097-4A26-84A4-C716E9ADC13C}">
      <dgm:prSet/>
      <dgm:spPr/>
      <dgm:t>
        <a:bodyPr/>
        <a:lstStyle/>
        <a:p>
          <a:endParaRPr lang="en-US"/>
        </a:p>
      </dgm:t>
    </dgm:pt>
    <dgm:pt modelId="{4DADBF1E-636B-4D01-B8B6-29A623C58FBC}" type="sibTrans" cxnId="{BA11ABD1-B097-4A26-84A4-C716E9ADC13C}">
      <dgm:prSet/>
      <dgm:spPr/>
      <dgm:t>
        <a:bodyPr/>
        <a:lstStyle/>
        <a:p>
          <a:endParaRPr lang="en-US"/>
        </a:p>
      </dgm:t>
    </dgm:pt>
    <dgm:pt modelId="{592613A6-F20C-42E9-96FC-04CC1BC47A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XGBoost showed the best results overall</a:t>
          </a:r>
        </a:p>
      </dgm:t>
    </dgm:pt>
    <dgm:pt modelId="{EED4E149-3298-4F3B-BCE0-CC712DEB8F85}" type="parTrans" cxnId="{0ED0C319-D732-411D-9632-A6BD15F54B45}">
      <dgm:prSet/>
      <dgm:spPr/>
      <dgm:t>
        <a:bodyPr/>
        <a:lstStyle/>
        <a:p>
          <a:endParaRPr lang="en-US"/>
        </a:p>
      </dgm:t>
    </dgm:pt>
    <dgm:pt modelId="{8C9EE74D-05F6-4B15-8F3E-CD8AD4CA6C7F}" type="sibTrans" cxnId="{0ED0C319-D732-411D-9632-A6BD15F54B45}">
      <dgm:prSet/>
      <dgm:spPr/>
      <dgm:t>
        <a:bodyPr/>
        <a:lstStyle/>
        <a:p>
          <a:endParaRPr lang="en-US"/>
        </a:p>
      </dgm:t>
    </dgm:pt>
    <dgm:pt modelId="{97FA8904-04DB-4582-A896-F3682D662D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Random Forest still reliable for balanced speed/accuracy</a:t>
          </a:r>
        </a:p>
      </dgm:t>
    </dgm:pt>
    <dgm:pt modelId="{3D725345-AEB5-4C60-BBD2-BB06EB15281F}" type="parTrans" cxnId="{F9EC972D-AC12-469C-BC63-1B1EBBD41C3F}">
      <dgm:prSet/>
      <dgm:spPr/>
      <dgm:t>
        <a:bodyPr/>
        <a:lstStyle/>
        <a:p>
          <a:endParaRPr lang="en-US"/>
        </a:p>
      </dgm:t>
    </dgm:pt>
    <dgm:pt modelId="{6D1C17D9-4900-4F05-A772-243380D9EFAB}" type="sibTrans" cxnId="{F9EC972D-AC12-469C-BC63-1B1EBBD41C3F}">
      <dgm:prSet/>
      <dgm:spPr/>
      <dgm:t>
        <a:bodyPr/>
        <a:lstStyle/>
        <a:p>
          <a:endParaRPr lang="en-US"/>
        </a:p>
      </dgm:t>
    </dgm:pt>
    <dgm:pt modelId="{C9DFD60B-1701-4322-9494-1DA2C57D9C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Importance of data preprocessing in cybersecurity ML</a:t>
          </a:r>
        </a:p>
      </dgm:t>
    </dgm:pt>
    <dgm:pt modelId="{7212A9C9-422C-4DEF-8D3D-F034CC73559E}" type="parTrans" cxnId="{8E7EB359-3125-4B34-9266-648F2D5ED17D}">
      <dgm:prSet/>
      <dgm:spPr/>
      <dgm:t>
        <a:bodyPr/>
        <a:lstStyle/>
        <a:p>
          <a:endParaRPr lang="en-US"/>
        </a:p>
      </dgm:t>
    </dgm:pt>
    <dgm:pt modelId="{359B5217-4ADF-4EFE-9A65-81153C1A96A6}" type="sibTrans" cxnId="{8E7EB359-3125-4B34-9266-648F2D5ED17D}">
      <dgm:prSet/>
      <dgm:spPr/>
      <dgm:t>
        <a:bodyPr/>
        <a:lstStyle/>
        <a:p>
          <a:endParaRPr lang="en-US"/>
        </a:p>
      </dgm:t>
    </dgm:pt>
    <dgm:pt modelId="{F26A04E2-38F9-4A7E-866D-C72D421BB482}" type="pres">
      <dgm:prSet presAssocID="{13D1CB32-7749-40C3-B1F0-1CC189C0E30B}" presName="root" presStyleCnt="0">
        <dgm:presLayoutVars>
          <dgm:dir/>
          <dgm:resizeHandles val="exact"/>
        </dgm:presLayoutVars>
      </dgm:prSet>
      <dgm:spPr/>
    </dgm:pt>
    <dgm:pt modelId="{229B25E2-DCFD-4B24-BCE8-96D258102091}" type="pres">
      <dgm:prSet presAssocID="{2FC35803-E8F8-4837-9F0D-28A278668418}" presName="compNode" presStyleCnt="0"/>
      <dgm:spPr/>
    </dgm:pt>
    <dgm:pt modelId="{363021E3-4EF1-4573-B7D9-0D1ADBDC88FC}" type="pres">
      <dgm:prSet presAssocID="{2FC35803-E8F8-4837-9F0D-28A278668418}" presName="bgRect" presStyleLbl="bgShp" presStyleIdx="0" presStyleCnt="4"/>
      <dgm:spPr/>
    </dgm:pt>
    <dgm:pt modelId="{8BD08826-286C-46C5-8247-01D36AA8FE97}" type="pres">
      <dgm:prSet presAssocID="{2FC35803-E8F8-4837-9F0D-28A2786684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CACF531-AD9D-41F5-8049-DFC66D0A8912}" type="pres">
      <dgm:prSet presAssocID="{2FC35803-E8F8-4837-9F0D-28A278668418}" presName="spaceRect" presStyleCnt="0"/>
      <dgm:spPr/>
    </dgm:pt>
    <dgm:pt modelId="{6D4741BD-6CAF-45C0-932F-32AD74821964}" type="pres">
      <dgm:prSet presAssocID="{2FC35803-E8F8-4837-9F0D-28A278668418}" presName="parTx" presStyleLbl="revTx" presStyleIdx="0" presStyleCnt="4">
        <dgm:presLayoutVars>
          <dgm:chMax val="0"/>
          <dgm:chPref val="0"/>
        </dgm:presLayoutVars>
      </dgm:prSet>
      <dgm:spPr/>
    </dgm:pt>
    <dgm:pt modelId="{90254197-8EDC-4142-9FBE-2C38A3A19E15}" type="pres">
      <dgm:prSet presAssocID="{4DADBF1E-636B-4D01-B8B6-29A623C58FBC}" presName="sibTrans" presStyleCnt="0"/>
      <dgm:spPr/>
    </dgm:pt>
    <dgm:pt modelId="{C46F50DD-5B36-41A8-A397-3E8663E6BA42}" type="pres">
      <dgm:prSet presAssocID="{592613A6-F20C-42E9-96FC-04CC1BC47A9E}" presName="compNode" presStyleCnt="0"/>
      <dgm:spPr/>
    </dgm:pt>
    <dgm:pt modelId="{33E06F45-9DEA-4B5E-9F10-31205EB461AC}" type="pres">
      <dgm:prSet presAssocID="{592613A6-F20C-42E9-96FC-04CC1BC47A9E}" presName="bgRect" presStyleLbl="bgShp" presStyleIdx="1" presStyleCnt="4"/>
      <dgm:spPr/>
    </dgm:pt>
    <dgm:pt modelId="{214FEE08-8445-43E3-B520-D12CEF848687}" type="pres">
      <dgm:prSet presAssocID="{592613A6-F20C-42E9-96FC-04CC1BC47A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20899762-62A0-44ED-B957-D8719624B711}" type="pres">
      <dgm:prSet presAssocID="{592613A6-F20C-42E9-96FC-04CC1BC47A9E}" presName="spaceRect" presStyleCnt="0"/>
      <dgm:spPr/>
    </dgm:pt>
    <dgm:pt modelId="{B1A44316-3E54-47F1-8170-05BE7542E13A}" type="pres">
      <dgm:prSet presAssocID="{592613A6-F20C-42E9-96FC-04CC1BC47A9E}" presName="parTx" presStyleLbl="revTx" presStyleIdx="1" presStyleCnt="4">
        <dgm:presLayoutVars>
          <dgm:chMax val="0"/>
          <dgm:chPref val="0"/>
        </dgm:presLayoutVars>
      </dgm:prSet>
      <dgm:spPr/>
    </dgm:pt>
    <dgm:pt modelId="{A2B28323-2140-41A0-BC91-3283A54A5129}" type="pres">
      <dgm:prSet presAssocID="{8C9EE74D-05F6-4B15-8F3E-CD8AD4CA6C7F}" presName="sibTrans" presStyleCnt="0"/>
      <dgm:spPr/>
    </dgm:pt>
    <dgm:pt modelId="{E0394784-FBC0-41AA-B0F3-D478AE96C766}" type="pres">
      <dgm:prSet presAssocID="{97FA8904-04DB-4582-A896-F3682D662D49}" presName="compNode" presStyleCnt="0"/>
      <dgm:spPr/>
    </dgm:pt>
    <dgm:pt modelId="{2B6F4C06-B6B5-47C5-B660-4FB86FF18CB7}" type="pres">
      <dgm:prSet presAssocID="{97FA8904-04DB-4582-A896-F3682D662D49}" presName="bgRect" presStyleLbl="bgShp" presStyleIdx="2" presStyleCnt="4"/>
      <dgm:spPr/>
    </dgm:pt>
    <dgm:pt modelId="{B5207041-0A23-47FF-AE13-91FAF7B6D782}" type="pres">
      <dgm:prSet presAssocID="{97FA8904-04DB-4582-A896-F3682D662D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A41045BC-0889-40BF-9497-6351EEB16C00}" type="pres">
      <dgm:prSet presAssocID="{97FA8904-04DB-4582-A896-F3682D662D49}" presName="spaceRect" presStyleCnt="0"/>
      <dgm:spPr/>
    </dgm:pt>
    <dgm:pt modelId="{5D1778CB-7D14-4433-8347-92FC8053131F}" type="pres">
      <dgm:prSet presAssocID="{97FA8904-04DB-4582-A896-F3682D662D49}" presName="parTx" presStyleLbl="revTx" presStyleIdx="2" presStyleCnt="4">
        <dgm:presLayoutVars>
          <dgm:chMax val="0"/>
          <dgm:chPref val="0"/>
        </dgm:presLayoutVars>
      </dgm:prSet>
      <dgm:spPr/>
    </dgm:pt>
    <dgm:pt modelId="{85EF8A16-1774-4EC1-8B78-DE23D4752DF5}" type="pres">
      <dgm:prSet presAssocID="{6D1C17D9-4900-4F05-A772-243380D9EFAB}" presName="sibTrans" presStyleCnt="0"/>
      <dgm:spPr/>
    </dgm:pt>
    <dgm:pt modelId="{84123436-E712-488B-8330-B4CF058CA21F}" type="pres">
      <dgm:prSet presAssocID="{C9DFD60B-1701-4322-9494-1DA2C57D9C06}" presName="compNode" presStyleCnt="0"/>
      <dgm:spPr/>
    </dgm:pt>
    <dgm:pt modelId="{F8E874D1-28EF-494C-B098-971D4D2206D1}" type="pres">
      <dgm:prSet presAssocID="{C9DFD60B-1701-4322-9494-1DA2C57D9C06}" presName="bgRect" presStyleLbl="bgShp" presStyleIdx="3" presStyleCnt="4"/>
      <dgm:spPr/>
    </dgm:pt>
    <dgm:pt modelId="{D142251D-A6D1-4B2F-A5E4-D17293C35C55}" type="pres">
      <dgm:prSet presAssocID="{C9DFD60B-1701-4322-9494-1DA2C57D9C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0124FBE-57B0-4A8A-8104-9678E47B8FFE}" type="pres">
      <dgm:prSet presAssocID="{C9DFD60B-1701-4322-9494-1DA2C57D9C06}" presName="spaceRect" presStyleCnt="0"/>
      <dgm:spPr/>
    </dgm:pt>
    <dgm:pt modelId="{8C4A60A3-54EC-4468-A641-75253C06D0B6}" type="pres">
      <dgm:prSet presAssocID="{C9DFD60B-1701-4322-9494-1DA2C57D9C0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ED0C319-D732-411D-9632-A6BD15F54B45}" srcId="{13D1CB32-7749-40C3-B1F0-1CC189C0E30B}" destId="{592613A6-F20C-42E9-96FC-04CC1BC47A9E}" srcOrd="1" destOrd="0" parTransId="{EED4E149-3298-4F3B-BCE0-CC712DEB8F85}" sibTransId="{8C9EE74D-05F6-4B15-8F3E-CD8AD4CA6C7F}"/>
    <dgm:cxn modelId="{C6A13D1B-5286-43CF-AE05-6B2B75160AD5}" type="presOf" srcId="{13D1CB32-7749-40C3-B1F0-1CC189C0E30B}" destId="{F26A04E2-38F9-4A7E-866D-C72D421BB482}" srcOrd="0" destOrd="0" presId="urn:microsoft.com/office/officeart/2018/2/layout/IconVerticalSolidList"/>
    <dgm:cxn modelId="{F9EC972D-AC12-469C-BC63-1B1EBBD41C3F}" srcId="{13D1CB32-7749-40C3-B1F0-1CC189C0E30B}" destId="{97FA8904-04DB-4582-A896-F3682D662D49}" srcOrd="2" destOrd="0" parTransId="{3D725345-AEB5-4C60-BBD2-BB06EB15281F}" sibTransId="{6D1C17D9-4900-4F05-A772-243380D9EFAB}"/>
    <dgm:cxn modelId="{BF44975D-B45B-4236-B39B-8EA2157A6A48}" type="presOf" srcId="{2FC35803-E8F8-4837-9F0D-28A278668418}" destId="{6D4741BD-6CAF-45C0-932F-32AD74821964}" srcOrd="0" destOrd="0" presId="urn:microsoft.com/office/officeart/2018/2/layout/IconVerticalSolidList"/>
    <dgm:cxn modelId="{8E7EB359-3125-4B34-9266-648F2D5ED17D}" srcId="{13D1CB32-7749-40C3-B1F0-1CC189C0E30B}" destId="{C9DFD60B-1701-4322-9494-1DA2C57D9C06}" srcOrd="3" destOrd="0" parTransId="{7212A9C9-422C-4DEF-8D3D-F034CC73559E}" sibTransId="{359B5217-4ADF-4EFE-9A65-81153C1A96A6}"/>
    <dgm:cxn modelId="{12148385-D986-49DE-98D8-0E82D464EEA1}" type="presOf" srcId="{97FA8904-04DB-4582-A896-F3682D662D49}" destId="{5D1778CB-7D14-4433-8347-92FC8053131F}" srcOrd="0" destOrd="0" presId="urn:microsoft.com/office/officeart/2018/2/layout/IconVerticalSolidList"/>
    <dgm:cxn modelId="{71C48DC9-89D6-4854-B86C-46AC141ADC57}" type="presOf" srcId="{C9DFD60B-1701-4322-9494-1DA2C57D9C06}" destId="{8C4A60A3-54EC-4468-A641-75253C06D0B6}" srcOrd="0" destOrd="0" presId="urn:microsoft.com/office/officeart/2018/2/layout/IconVerticalSolidList"/>
    <dgm:cxn modelId="{BA11ABD1-B097-4A26-84A4-C716E9ADC13C}" srcId="{13D1CB32-7749-40C3-B1F0-1CC189C0E30B}" destId="{2FC35803-E8F8-4837-9F0D-28A278668418}" srcOrd="0" destOrd="0" parTransId="{E200924F-C3FD-4192-9CE1-53A71E857452}" sibTransId="{4DADBF1E-636B-4D01-B8B6-29A623C58FBC}"/>
    <dgm:cxn modelId="{EE8AABF3-4D3D-4FDB-B8FC-0E8E6EF728D1}" type="presOf" srcId="{592613A6-F20C-42E9-96FC-04CC1BC47A9E}" destId="{B1A44316-3E54-47F1-8170-05BE7542E13A}" srcOrd="0" destOrd="0" presId="urn:microsoft.com/office/officeart/2018/2/layout/IconVerticalSolidList"/>
    <dgm:cxn modelId="{D9DA68C5-819D-4FC6-8921-33BF03D1ED74}" type="presParOf" srcId="{F26A04E2-38F9-4A7E-866D-C72D421BB482}" destId="{229B25E2-DCFD-4B24-BCE8-96D258102091}" srcOrd="0" destOrd="0" presId="urn:microsoft.com/office/officeart/2018/2/layout/IconVerticalSolidList"/>
    <dgm:cxn modelId="{759B11CC-96DB-4E2D-8168-E2022A28834F}" type="presParOf" srcId="{229B25E2-DCFD-4B24-BCE8-96D258102091}" destId="{363021E3-4EF1-4573-B7D9-0D1ADBDC88FC}" srcOrd="0" destOrd="0" presId="urn:microsoft.com/office/officeart/2018/2/layout/IconVerticalSolidList"/>
    <dgm:cxn modelId="{92F3BB06-A09A-4A03-8FAE-7735B21E2732}" type="presParOf" srcId="{229B25E2-DCFD-4B24-BCE8-96D258102091}" destId="{8BD08826-286C-46C5-8247-01D36AA8FE97}" srcOrd="1" destOrd="0" presId="urn:microsoft.com/office/officeart/2018/2/layout/IconVerticalSolidList"/>
    <dgm:cxn modelId="{6D496603-EE3E-452D-B59A-DFCE4ADBF053}" type="presParOf" srcId="{229B25E2-DCFD-4B24-BCE8-96D258102091}" destId="{1CACF531-AD9D-41F5-8049-DFC66D0A8912}" srcOrd="2" destOrd="0" presId="urn:microsoft.com/office/officeart/2018/2/layout/IconVerticalSolidList"/>
    <dgm:cxn modelId="{1FF98603-7E8E-4BA6-8038-78AFF5134DCA}" type="presParOf" srcId="{229B25E2-DCFD-4B24-BCE8-96D258102091}" destId="{6D4741BD-6CAF-45C0-932F-32AD74821964}" srcOrd="3" destOrd="0" presId="urn:microsoft.com/office/officeart/2018/2/layout/IconVerticalSolidList"/>
    <dgm:cxn modelId="{EB4D3A11-24E4-4A91-B5F7-355F3F4680C9}" type="presParOf" srcId="{F26A04E2-38F9-4A7E-866D-C72D421BB482}" destId="{90254197-8EDC-4142-9FBE-2C38A3A19E15}" srcOrd="1" destOrd="0" presId="urn:microsoft.com/office/officeart/2018/2/layout/IconVerticalSolidList"/>
    <dgm:cxn modelId="{4DCEB52C-9C29-4ED1-9BB5-3B610C3CA1D5}" type="presParOf" srcId="{F26A04E2-38F9-4A7E-866D-C72D421BB482}" destId="{C46F50DD-5B36-41A8-A397-3E8663E6BA42}" srcOrd="2" destOrd="0" presId="urn:microsoft.com/office/officeart/2018/2/layout/IconVerticalSolidList"/>
    <dgm:cxn modelId="{9AD0303C-EEAE-4613-A692-346D7E740884}" type="presParOf" srcId="{C46F50DD-5B36-41A8-A397-3E8663E6BA42}" destId="{33E06F45-9DEA-4B5E-9F10-31205EB461AC}" srcOrd="0" destOrd="0" presId="urn:microsoft.com/office/officeart/2018/2/layout/IconVerticalSolidList"/>
    <dgm:cxn modelId="{612EDD62-07E7-4E1A-A818-EEA73FA462D6}" type="presParOf" srcId="{C46F50DD-5B36-41A8-A397-3E8663E6BA42}" destId="{214FEE08-8445-43E3-B520-D12CEF848687}" srcOrd="1" destOrd="0" presId="urn:microsoft.com/office/officeart/2018/2/layout/IconVerticalSolidList"/>
    <dgm:cxn modelId="{DAA5D5BC-E80E-4DEE-8F19-4B23EA80906F}" type="presParOf" srcId="{C46F50DD-5B36-41A8-A397-3E8663E6BA42}" destId="{20899762-62A0-44ED-B957-D8719624B711}" srcOrd="2" destOrd="0" presId="urn:microsoft.com/office/officeart/2018/2/layout/IconVerticalSolidList"/>
    <dgm:cxn modelId="{889FC7E7-BCE3-4CAC-BC98-DEB2B09FD098}" type="presParOf" srcId="{C46F50DD-5B36-41A8-A397-3E8663E6BA42}" destId="{B1A44316-3E54-47F1-8170-05BE7542E13A}" srcOrd="3" destOrd="0" presId="urn:microsoft.com/office/officeart/2018/2/layout/IconVerticalSolidList"/>
    <dgm:cxn modelId="{2DB3AB8E-A8E1-4A42-9912-B3FF407D156C}" type="presParOf" srcId="{F26A04E2-38F9-4A7E-866D-C72D421BB482}" destId="{A2B28323-2140-41A0-BC91-3283A54A5129}" srcOrd="3" destOrd="0" presId="urn:microsoft.com/office/officeart/2018/2/layout/IconVerticalSolidList"/>
    <dgm:cxn modelId="{BF698D0F-2CDD-409E-BB85-0B278571AD4D}" type="presParOf" srcId="{F26A04E2-38F9-4A7E-866D-C72D421BB482}" destId="{E0394784-FBC0-41AA-B0F3-D478AE96C766}" srcOrd="4" destOrd="0" presId="urn:microsoft.com/office/officeart/2018/2/layout/IconVerticalSolidList"/>
    <dgm:cxn modelId="{6287614A-3152-4DF0-BCD3-F814057B7430}" type="presParOf" srcId="{E0394784-FBC0-41AA-B0F3-D478AE96C766}" destId="{2B6F4C06-B6B5-47C5-B660-4FB86FF18CB7}" srcOrd="0" destOrd="0" presId="urn:microsoft.com/office/officeart/2018/2/layout/IconVerticalSolidList"/>
    <dgm:cxn modelId="{213F5A30-D497-48AA-B961-86091C3262F6}" type="presParOf" srcId="{E0394784-FBC0-41AA-B0F3-D478AE96C766}" destId="{B5207041-0A23-47FF-AE13-91FAF7B6D782}" srcOrd="1" destOrd="0" presId="urn:microsoft.com/office/officeart/2018/2/layout/IconVerticalSolidList"/>
    <dgm:cxn modelId="{F7247C6B-1DC6-41B0-BB45-A605077558F8}" type="presParOf" srcId="{E0394784-FBC0-41AA-B0F3-D478AE96C766}" destId="{A41045BC-0889-40BF-9497-6351EEB16C00}" srcOrd="2" destOrd="0" presId="urn:microsoft.com/office/officeart/2018/2/layout/IconVerticalSolidList"/>
    <dgm:cxn modelId="{4900B127-EA45-498E-B748-51A654221B84}" type="presParOf" srcId="{E0394784-FBC0-41AA-B0F3-D478AE96C766}" destId="{5D1778CB-7D14-4433-8347-92FC8053131F}" srcOrd="3" destOrd="0" presId="urn:microsoft.com/office/officeart/2018/2/layout/IconVerticalSolidList"/>
    <dgm:cxn modelId="{37A68F3C-CB2F-42A3-B3F5-57F03E94A820}" type="presParOf" srcId="{F26A04E2-38F9-4A7E-866D-C72D421BB482}" destId="{85EF8A16-1774-4EC1-8B78-DE23D4752DF5}" srcOrd="5" destOrd="0" presId="urn:microsoft.com/office/officeart/2018/2/layout/IconVerticalSolidList"/>
    <dgm:cxn modelId="{4B11CC52-2E5F-4D9A-8216-C34548ECD053}" type="presParOf" srcId="{F26A04E2-38F9-4A7E-866D-C72D421BB482}" destId="{84123436-E712-488B-8330-B4CF058CA21F}" srcOrd="6" destOrd="0" presId="urn:microsoft.com/office/officeart/2018/2/layout/IconVerticalSolidList"/>
    <dgm:cxn modelId="{4162F2AD-5906-46EC-89DE-2FA1FF509425}" type="presParOf" srcId="{84123436-E712-488B-8330-B4CF058CA21F}" destId="{F8E874D1-28EF-494C-B098-971D4D2206D1}" srcOrd="0" destOrd="0" presId="urn:microsoft.com/office/officeart/2018/2/layout/IconVerticalSolidList"/>
    <dgm:cxn modelId="{824527D3-5AEB-46B8-85F3-66BC885CC12B}" type="presParOf" srcId="{84123436-E712-488B-8330-B4CF058CA21F}" destId="{D142251D-A6D1-4B2F-A5E4-D17293C35C55}" srcOrd="1" destOrd="0" presId="urn:microsoft.com/office/officeart/2018/2/layout/IconVerticalSolidList"/>
    <dgm:cxn modelId="{8A944889-BA0A-4C8A-B86F-72224F79FCE5}" type="presParOf" srcId="{84123436-E712-488B-8330-B4CF058CA21F}" destId="{20124FBE-57B0-4A8A-8104-9678E47B8FFE}" srcOrd="2" destOrd="0" presId="urn:microsoft.com/office/officeart/2018/2/layout/IconVerticalSolidList"/>
    <dgm:cxn modelId="{8F9DD43C-1068-4A4E-9E91-4A9703C670A7}" type="presParOf" srcId="{84123436-E712-488B-8330-B4CF058CA21F}" destId="{8C4A60A3-54EC-4468-A641-75253C06D0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1DB49-15E0-447A-8CF0-63C50D9F3747}">
      <dsp:nvSpPr>
        <dsp:cNvPr id="0" name=""/>
        <dsp:cNvSpPr/>
      </dsp:nvSpPr>
      <dsp:spPr>
        <a:xfrm>
          <a:off x="2169914" y="49231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5B485-F059-4D55-8CE9-E5E19D1F23A7}">
      <dsp:nvSpPr>
        <dsp:cNvPr id="0" name=""/>
        <dsp:cNvSpPr/>
      </dsp:nvSpPr>
      <dsp:spPr>
        <a:xfrm>
          <a:off x="765914" y="214226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Limitations:</a:t>
          </a:r>
        </a:p>
      </dsp:txBody>
      <dsp:txXfrm>
        <a:off x="765914" y="2142263"/>
        <a:ext cx="4320000" cy="648000"/>
      </dsp:txXfrm>
    </dsp:sp>
    <dsp:sp modelId="{F8CE638D-73D8-4F72-8DF8-BCA8DD763A34}">
      <dsp:nvSpPr>
        <dsp:cNvPr id="0" name=""/>
        <dsp:cNvSpPr/>
      </dsp:nvSpPr>
      <dsp:spPr>
        <a:xfrm>
          <a:off x="765914" y="2854427"/>
          <a:ext cx="4320000" cy="84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SVM training time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Rare class imbalance</a:t>
          </a:r>
        </a:p>
      </dsp:txBody>
      <dsp:txXfrm>
        <a:off x="765914" y="2854427"/>
        <a:ext cx="4320000" cy="846065"/>
      </dsp:txXfrm>
    </dsp:sp>
    <dsp:sp modelId="{65B404F9-E46E-43EC-985A-C1B3B07BFD0D}">
      <dsp:nvSpPr>
        <dsp:cNvPr id="0" name=""/>
        <dsp:cNvSpPr/>
      </dsp:nvSpPr>
      <dsp:spPr>
        <a:xfrm>
          <a:off x="7245914" y="49231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CA437-87B5-41DF-9507-A7D94A87B08C}">
      <dsp:nvSpPr>
        <dsp:cNvPr id="0" name=""/>
        <dsp:cNvSpPr/>
      </dsp:nvSpPr>
      <dsp:spPr>
        <a:xfrm>
          <a:off x="5841914" y="214226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Future Work:</a:t>
          </a:r>
        </a:p>
      </dsp:txBody>
      <dsp:txXfrm>
        <a:off x="5841914" y="2142263"/>
        <a:ext cx="4320000" cy="648000"/>
      </dsp:txXfrm>
    </dsp:sp>
    <dsp:sp modelId="{254CAA97-F7DB-4011-93A8-4AA415E668AD}">
      <dsp:nvSpPr>
        <dsp:cNvPr id="0" name=""/>
        <dsp:cNvSpPr/>
      </dsp:nvSpPr>
      <dsp:spPr>
        <a:xfrm>
          <a:off x="5841914" y="2854427"/>
          <a:ext cx="4320000" cy="846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Times New Roman" panose="02020603050405020304" pitchFamily="18" charset="0"/>
              <a:cs typeface="Times New Roman" panose="02020603050405020304" pitchFamily="18" charset="0"/>
            </a:rPr>
            <a:t>Hyperparameter tuning (e.g., GridSearchCV)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Try real-time or streaming datasets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Explore LightGBM, Deep Learning</a:t>
          </a:r>
        </a:p>
      </dsp:txBody>
      <dsp:txXfrm>
        <a:off x="5841914" y="2854427"/>
        <a:ext cx="4320000" cy="8460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021E3-4EF1-4573-B7D9-0D1ADBDC88FC}">
      <dsp:nvSpPr>
        <dsp:cNvPr id="0" name=""/>
        <dsp:cNvSpPr/>
      </dsp:nvSpPr>
      <dsp:spPr>
        <a:xfrm>
          <a:off x="0" y="2254"/>
          <a:ext cx="5842095" cy="11424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08826-286C-46C5-8247-01D36AA8FE97}">
      <dsp:nvSpPr>
        <dsp:cNvPr id="0" name=""/>
        <dsp:cNvSpPr/>
      </dsp:nvSpPr>
      <dsp:spPr>
        <a:xfrm>
          <a:off x="345605" y="259316"/>
          <a:ext cx="628374" cy="6283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741BD-6CAF-45C0-932F-32AD74821964}">
      <dsp:nvSpPr>
        <dsp:cNvPr id="0" name=""/>
        <dsp:cNvSpPr/>
      </dsp:nvSpPr>
      <dsp:spPr>
        <a:xfrm>
          <a:off x="1319585" y="2254"/>
          <a:ext cx="4522509" cy="11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4" tIns="120914" rIns="120914" bIns="1209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ML models are effective for intrusion detection</a:t>
          </a:r>
        </a:p>
      </dsp:txBody>
      <dsp:txXfrm>
        <a:off x="1319585" y="2254"/>
        <a:ext cx="4522509" cy="1142498"/>
      </dsp:txXfrm>
    </dsp:sp>
    <dsp:sp modelId="{33E06F45-9DEA-4B5E-9F10-31205EB461AC}">
      <dsp:nvSpPr>
        <dsp:cNvPr id="0" name=""/>
        <dsp:cNvSpPr/>
      </dsp:nvSpPr>
      <dsp:spPr>
        <a:xfrm>
          <a:off x="0" y="1430377"/>
          <a:ext cx="5842095" cy="11424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FEE08-8445-43E3-B520-D12CEF848687}">
      <dsp:nvSpPr>
        <dsp:cNvPr id="0" name=""/>
        <dsp:cNvSpPr/>
      </dsp:nvSpPr>
      <dsp:spPr>
        <a:xfrm>
          <a:off x="345605" y="1687439"/>
          <a:ext cx="628374" cy="6283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44316-3E54-47F1-8170-05BE7542E13A}">
      <dsp:nvSpPr>
        <dsp:cNvPr id="0" name=""/>
        <dsp:cNvSpPr/>
      </dsp:nvSpPr>
      <dsp:spPr>
        <a:xfrm>
          <a:off x="1319585" y="1430377"/>
          <a:ext cx="4522509" cy="11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4" tIns="120914" rIns="120914" bIns="1209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XGBoost showed the best results overall</a:t>
          </a:r>
        </a:p>
      </dsp:txBody>
      <dsp:txXfrm>
        <a:off x="1319585" y="1430377"/>
        <a:ext cx="4522509" cy="1142498"/>
      </dsp:txXfrm>
    </dsp:sp>
    <dsp:sp modelId="{2B6F4C06-B6B5-47C5-B660-4FB86FF18CB7}">
      <dsp:nvSpPr>
        <dsp:cNvPr id="0" name=""/>
        <dsp:cNvSpPr/>
      </dsp:nvSpPr>
      <dsp:spPr>
        <a:xfrm>
          <a:off x="0" y="2858500"/>
          <a:ext cx="5842095" cy="11424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07041-0A23-47FF-AE13-91FAF7B6D782}">
      <dsp:nvSpPr>
        <dsp:cNvPr id="0" name=""/>
        <dsp:cNvSpPr/>
      </dsp:nvSpPr>
      <dsp:spPr>
        <a:xfrm>
          <a:off x="345605" y="3115562"/>
          <a:ext cx="628374" cy="6283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778CB-7D14-4433-8347-92FC8053131F}">
      <dsp:nvSpPr>
        <dsp:cNvPr id="0" name=""/>
        <dsp:cNvSpPr/>
      </dsp:nvSpPr>
      <dsp:spPr>
        <a:xfrm>
          <a:off x="1319585" y="2858500"/>
          <a:ext cx="4522509" cy="11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4" tIns="120914" rIns="120914" bIns="1209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Random Forest still reliable for balanced speed/accuracy</a:t>
          </a:r>
        </a:p>
      </dsp:txBody>
      <dsp:txXfrm>
        <a:off x="1319585" y="2858500"/>
        <a:ext cx="4522509" cy="1142498"/>
      </dsp:txXfrm>
    </dsp:sp>
    <dsp:sp modelId="{F8E874D1-28EF-494C-B098-971D4D2206D1}">
      <dsp:nvSpPr>
        <dsp:cNvPr id="0" name=""/>
        <dsp:cNvSpPr/>
      </dsp:nvSpPr>
      <dsp:spPr>
        <a:xfrm>
          <a:off x="0" y="4286623"/>
          <a:ext cx="5842095" cy="11424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2251D-A6D1-4B2F-A5E4-D17293C35C55}">
      <dsp:nvSpPr>
        <dsp:cNvPr id="0" name=""/>
        <dsp:cNvSpPr/>
      </dsp:nvSpPr>
      <dsp:spPr>
        <a:xfrm>
          <a:off x="345605" y="4543685"/>
          <a:ext cx="628374" cy="6283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A60A3-54EC-4468-A641-75253C06D0B6}">
      <dsp:nvSpPr>
        <dsp:cNvPr id="0" name=""/>
        <dsp:cNvSpPr/>
      </dsp:nvSpPr>
      <dsp:spPr>
        <a:xfrm>
          <a:off x="1319585" y="4286623"/>
          <a:ext cx="4522509" cy="11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4" tIns="120914" rIns="120914" bIns="1209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Importance of data preprocessing in cybersecurity ML</a:t>
          </a:r>
        </a:p>
      </dsp:txBody>
      <dsp:txXfrm>
        <a:off x="1319585" y="4286623"/>
        <a:ext cx="4522509" cy="1142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215BF-3C3D-41BD-A711-0B830FCCEAE7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64407-B402-4B5D-8225-0C2372CB5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0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64407-B402-4B5D-8225-0C2372CB5C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8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D2CF7-E035-DF4F-05C1-6EAABF4FF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9B6C1-10C2-2FDB-726D-C27FF249F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D5A9B-A9D3-FD63-1789-9DF9B629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98911-A797-A90B-E428-8D171CC3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91132-A6A8-3E07-114F-FB5D5BD9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19FE-0C31-642B-2D9B-7088F419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D4ECD-0E05-E56B-C029-C597C2652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A4347-A536-6164-7A6D-96A9E0FB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6FCE-719E-B47A-678C-EB4C455F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97120-54CC-30E4-349C-E06324AD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3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261A-0791-9306-DC93-822FF071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57198-EA13-2042-83A2-E5AF1278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5931E-C380-F5D8-9D76-BB3B1C24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3641-1F0A-9E9A-F735-C65E7AE0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7D55A-208B-7C7B-A45C-A3C204C8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4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B96A-0F5E-A6B1-8BFD-5B88AAE1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818F5-B76E-F9EB-9945-F147A5B09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C8F89-7CD2-8E93-2623-E9269AF3F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5BD60-834C-E499-27F2-024B3C88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9B02D-DCC5-DAEE-7984-CE0ECCE8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46530-DB3C-A8A4-95B6-12A6637C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0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176D-405F-78A0-2F37-2FCEA935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BEAD2-542A-7F53-BA60-401514B56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81F43-AF30-A317-DB9C-083E32A71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62BD0-B05D-D4A1-5B06-BF37D33CD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602E5-4FC2-F16D-61C1-4D7A142CC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EC62E-2910-848E-D904-8F88ED3A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C4BC5-317D-3FB9-A129-277B24F6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A9354-4D3F-9173-1FC5-D5B65257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3B9F-BDA3-49EF-5021-8CC5F03D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B759A-87B0-D4CB-6E94-AB6CC204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4FACA-7590-8AC2-A872-D1DB0A61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A5513-E1DF-1EA1-F876-27672673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BFB26-047E-8B83-996F-F0AB6A43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7D577-AC9A-F59E-CB5D-A31E1433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3C86A-0148-A672-FBC2-57B091CD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3193-0C13-8603-656A-7A229CB8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F6E6-C1DF-E03B-8833-041B4F5FA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7F715-FFAD-F891-F166-2A85E8EB8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60245-093B-894B-23D0-9268038F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5AD33-59D7-35AF-EDBB-3F119B54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F49B4-F2CD-B1F4-D5CA-8E483F48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1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5545-A59B-DBDE-14BB-B793132B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FE919-2DF5-069B-1E4D-BE64BB568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6C1D6-C916-20C0-E03B-8E7CEE7B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FA713-5C3E-7BF9-D30B-3C6D5F2B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97496-5443-9396-0B1B-E3E0CCA6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19AA3-F474-2CF3-240D-4E7FBF07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5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1B4F-6A37-5184-BD47-09E3EBFB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C56AA-665A-1EBE-0721-D68DF73FE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6AC03-F8A6-20C3-A0E8-7C60FEC4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90984-A235-FC4F-7B5A-F8FE88E3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43C1A-EDCC-2CB4-B4D8-F2B0A221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5E2F5-834C-BEA2-F25C-18416CB04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DF8D2-5A18-07AD-CFED-E0788C458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5DFFC-327A-B618-FE53-0EDC6CCE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221D0-A601-CB21-AC8E-ACCBBCD8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CD67B-25D8-04E8-5BCA-CEA40008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1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25E11-6620-9C8B-2DE0-22637C28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89A3B-1941-E154-FDAC-5C0388974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40226-0CF0-8CEB-3421-B0F79560D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AC80E-0B9B-4690-8AF6-DD2476F490B6}" type="datetimeFigureOut">
              <a:rPr lang="en-US" smtClean="0"/>
              <a:t>2025-05-27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12340-85A7-937B-BF35-165F126B4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19691-05EA-17DB-A100-477CDFE76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0B1EE-5446-4428-9AA6-1C816C17B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1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drive/1l8I405PbeKM4Z7574LZFapjgwoEJbiSY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olab.research.google.com/drive/1l8I405PbeKM4Z7574LZFapjgwoEJbiS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com/c/67da3e3a-7b94-800f-ab3a-a48c2eb43701" TargetMode="External"/><Relationship Id="rId3" Type="http://schemas.openxmlformats.org/officeDocument/2006/relationships/hyperlink" Target="https://doi.org/10.1186/s40537-020-00318-5" TargetMode="External"/><Relationship Id="rId7" Type="http://schemas.openxmlformats.org/officeDocument/2006/relationships/hyperlink" Target="https://ieeexplore.ieee.org/document/8264962" TargetMode="External"/><Relationship Id="rId2" Type="http://schemas.openxmlformats.org/officeDocument/2006/relationships/hyperlink" Target="https://doi.org/10.1109/MilCIS.2015.734894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jocs.2017.03.006" TargetMode="External"/><Relationship Id="rId5" Type="http://schemas.openxmlformats.org/officeDocument/2006/relationships/hyperlink" Target="https://doi.org/10.1016/j.neunet.2018.07.011" TargetMode="External"/><Relationship Id="rId4" Type="http://schemas.openxmlformats.org/officeDocument/2006/relationships/hyperlink" Target="https://doi.org/10.1016/j.icte.2020.09.002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CC005E6-04C8-E3E0-5278-DBFFFA1E02F5}"/>
              </a:ext>
            </a:extLst>
          </p:cNvPr>
          <p:cNvSpPr txBox="1">
            <a:spLocks/>
          </p:cNvSpPr>
          <p:nvPr/>
        </p:nvSpPr>
        <p:spPr>
          <a:xfrm>
            <a:off x="1705896" y="2654710"/>
            <a:ext cx="10245213" cy="35838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Members: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Jyothi Ravipati – 34784275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E.H. Dinuka Sandaruwan – 35048058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Van Sanh VU – 34900798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Muhammad Danyal Khan – 34721903</a:t>
            </a:r>
          </a:p>
        </p:txBody>
      </p:sp>
      <p:pic>
        <p:nvPicPr>
          <p:cNvPr id="8" name="Picture 7" descr="Generated image">
            <a:extLst>
              <a:ext uri="{FF2B5EF4-FFF2-40B4-BE49-F238E27FC236}">
                <a16:creationId xmlns:a16="http://schemas.microsoft.com/office/drawing/2014/main" id="{B0E1F42E-29A0-FDC6-99ED-DB9DC5877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E283FD3-29BB-0E7A-E4B5-BE9C5C1293A0}"/>
              </a:ext>
            </a:extLst>
          </p:cNvPr>
          <p:cNvSpPr txBox="1">
            <a:spLocks/>
          </p:cNvSpPr>
          <p:nvPr/>
        </p:nvSpPr>
        <p:spPr>
          <a:xfrm>
            <a:off x="968478" y="287594"/>
            <a:ext cx="11223522" cy="66367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Detection and Prevention of DoS Attacks Using Machine Learning Techniques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47D0446-3646-7583-F23C-9EF927ECFB11}"/>
              </a:ext>
            </a:extLst>
          </p:cNvPr>
          <p:cNvSpPr txBox="1">
            <a:spLocks/>
          </p:cNvSpPr>
          <p:nvPr/>
        </p:nvSpPr>
        <p:spPr>
          <a:xfrm>
            <a:off x="1524000" y="792726"/>
            <a:ext cx="9144000" cy="2020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ICT 607 – Artificial Intelligence for Cyber Security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16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C04314-548E-8728-E5D1-CE1C0C1793ED}"/>
              </a:ext>
            </a:extLst>
          </p:cNvPr>
          <p:cNvSpPr txBox="1">
            <a:spLocks/>
          </p:cNvSpPr>
          <p:nvPr/>
        </p:nvSpPr>
        <p:spPr>
          <a:xfrm>
            <a:off x="7787148" y="4446638"/>
            <a:ext cx="4050890" cy="22024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Members: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Jyothi Ravipati – 34784275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E.H. Dinuka Sandaruwan – 35048058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Van Sanh VU – 34900798</a:t>
            </a:r>
          </a:p>
          <a:p>
            <a:pPr marL="0" marR="0" algn="r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Muhammad Danyal Khan – 34721903</a:t>
            </a:r>
          </a:p>
        </p:txBody>
      </p:sp>
    </p:spTree>
    <p:extLst>
      <p:ext uri="{BB962C8B-B14F-4D97-AF65-F5344CB8AC3E}">
        <p14:creationId xmlns:p14="http://schemas.microsoft.com/office/powerpoint/2010/main" val="241291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1F446-E108-CD58-77FC-FB3648E0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141599"/>
          </a:xfrm>
        </p:spPr>
        <p:txBody>
          <a:bodyPr anchor="b">
            <a:normAutofit/>
          </a:bodyPr>
          <a:lstStyle/>
          <a:p>
            <a:r>
              <a:rPr lang="en-US" sz="3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7FA89-1B9C-CD33-DD79-012D9A161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909191"/>
            <a:ext cx="5712541" cy="37230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Denial-of-Service (DoS) attack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cyberattack that floods a system or network with excessive traffic, making it unavailable to legitimate users.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it a Critical Problem in cybersecurity?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 attacks disrupt business operations, cause financial loss, and can expose vulnerabilities in critical infrastructure, making them a persistent threat.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struggle with new or complex threats.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offers smarter, data-driven intrusion detection.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ML to detect and classify DoS attacks using the UNSW-NB15 dataset for enhanced intrusion detection.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A41BD5C-A57E-B3ED-1936-A1EABCB1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85" r="8960" b="2"/>
          <a:stretch>
            <a:fillRect/>
          </a:stretch>
        </p:blipFill>
        <p:spPr>
          <a:xfrm>
            <a:off x="6525453" y="245119"/>
            <a:ext cx="5666547" cy="5875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6B0753-0AE5-F99F-95F9-226C9623B7DA}"/>
              </a:ext>
            </a:extLst>
          </p:cNvPr>
          <p:cNvSpPr txBox="1"/>
          <p:nvPr/>
        </p:nvSpPr>
        <p:spPr>
          <a:xfrm>
            <a:off x="142568" y="6441524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Danyal Khan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97ED68-8F5D-C8E4-ED9C-1DBDAAE5961C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621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A65-3BB8-2E7F-2CD9-3E360659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51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D5443-4B0E-525B-6927-87CFE03EA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640"/>
            <a:ext cx="10515600" cy="515932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UNSW-NB15: Public cybersecurity dataset with real + synthetic traffic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2.5M records, 49 features, 10 attack classes (including DoS)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838C2-6480-0F00-165C-34234CEE5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107" y="2202098"/>
            <a:ext cx="3870960" cy="32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E861FC-8E69-3B79-EF2D-6EA42BA7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933" y="2070970"/>
            <a:ext cx="4191000" cy="34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79F08D-348A-F91E-BFE6-4AE71D2FB6FF}"/>
              </a:ext>
            </a:extLst>
          </p:cNvPr>
          <p:cNvSpPr txBox="1"/>
          <p:nvPr/>
        </p:nvSpPr>
        <p:spPr>
          <a:xfrm>
            <a:off x="6348198" y="5518251"/>
            <a:ext cx="436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Distribution of Attack Types After Balancing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30306-D163-B1A6-38BE-0DAE346F0823}"/>
              </a:ext>
            </a:extLst>
          </p:cNvPr>
          <p:cNvSpPr txBox="1"/>
          <p:nvPr/>
        </p:nvSpPr>
        <p:spPr>
          <a:xfrm>
            <a:off x="1478280" y="5553945"/>
            <a:ext cx="347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Distribution of Attack Types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41592-98D7-05DE-68CE-7EFC9CE49479}"/>
              </a:ext>
            </a:extLst>
          </p:cNvPr>
          <p:cNvSpPr txBox="1"/>
          <p:nvPr/>
        </p:nvSpPr>
        <p:spPr>
          <a:xfrm>
            <a:off x="173047" y="6437999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Danyal Khan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855C3-3276-6C54-A9C1-6F010426AD35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03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7D78A-08CB-3C9D-74C4-A8907F4F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0A80C-5AC0-829F-E7E9-00885379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CSV merging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handling (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attack_cat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‘normal’, others -&gt; 0)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 (550k rows)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&amp; feature type correction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 (15,000 samples/class)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00A2BDC-88AD-1845-C008-A31F8E834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53" y="942802"/>
            <a:ext cx="5331767" cy="4972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1B289F-3978-4F12-9DAD-E9F9AE415CB5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6329E-54E4-0F30-F510-0C52738B8256}"/>
              </a:ext>
            </a:extLst>
          </p:cNvPr>
          <p:cNvSpPr txBox="1"/>
          <p:nvPr/>
        </p:nvSpPr>
        <p:spPr>
          <a:xfrm>
            <a:off x="142568" y="6426776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Dinuka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89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55BCC-362F-D1BC-A830-D95AF815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6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0A4E1CB-2E6F-5359-C370-4D6D3EAB6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42" y="398206"/>
            <a:ext cx="5221625" cy="50144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55EC6-DFAA-748D-3C2D-2E94FB108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~34 most relevant features for DoS detection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irrelevant fields (srcip, sport, etc.)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on: dur, sbytes, Spkts, state, tcprtt, etc.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 Access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https://colab.research.google.com/drive/1l8I405PbeKM4Z7574LZFapjgwoEJbiSY</a:t>
            </a:r>
            <a:endParaRPr lang="en-US" sz="32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CF7120-6DC1-AE6A-6E60-DF8C6F540657}"/>
              </a:ext>
            </a:extLst>
          </p:cNvPr>
          <p:cNvSpPr txBox="1"/>
          <p:nvPr/>
        </p:nvSpPr>
        <p:spPr>
          <a:xfrm>
            <a:off x="605837" y="5633884"/>
            <a:ext cx="4747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Feature Selection and Dropping Irrelevant Attributes for DoS Detection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FF23C-97AE-5B03-6D02-660100DEEBA0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0B568-EBD3-6BE7-E8FD-9F9772015F55}"/>
              </a:ext>
            </a:extLst>
          </p:cNvPr>
          <p:cNvSpPr txBox="1"/>
          <p:nvPr/>
        </p:nvSpPr>
        <p:spPr>
          <a:xfrm>
            <a:off x="142568" y="6426776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Dinuka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17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7" name="Rectangle 6166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69" name="Rectangle 6168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31F50-84B3-5F65-074F-6A952C72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ML Models Used</a:t>
            </a:r>
          </a:p>
        </p:txBody>
      </p:sp>
      <p:sp>
        <p:nvSpPr>
          <p:cNvPr id="6166" name="Rectangle 616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68" name="Rectangle 616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58278-1BB1-F312-6A65-28FC8733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365125"/>
            <a:ext cx="6106742" cy="1867617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Radiant Boosting (XGBoost)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Models?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A diagram of different trees&#10;&#10;AI-generated content may be incorrect.">
            <a:extLst>
              <a:ext uri="{FF2B5EF4-FFF2-40B4-BE49-F238E27FC236}">
                <a16:creationId xmlns:a16="http://schemas.microsoft.com/office/drawing/2014/main" id="{E5E86621-5167-EF4B-3F5D-51C5FDA7C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901" y="2729397"/>
            <a:ext cx="5219272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DDFCA3-5299-65F1-9CBB-CAAE5F87B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09613"/>
              </p:ext>
            </p:extLst>
          </p:nvPr>
        </p:nvGraphicFramePr>
        <p:xfrm>
          <a:off x="6198781" y="2928191"/>
          <a:ext cx="5523084" cy="3086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911">
                  <a:extLst>
                    <a:ext uri="{9D8B030D-6E8A-4147-A177-3AD203B41FA5}">
                      <a16:colId xmlns:a16="http://schemas.microsoft.com/office/drawing/2014/main" val="2356920618"/>
                    </a:ext>
                  </a:extLst>
                </a:gridCol>
                <a:gridCol w="1773095">
                  <a:extLst>
                    <a:ext uri="{9D8B030D-6E8A-4147-A177-3AD203B41FA5}">
                      <a16:colId xmlns:a16="http://schemas.microsoft.com/office/drawing/2014/main" val="286169760"/>
                    </a:ext>
                  </a:extLst>
                </a:gridCol>
                <a:gridCol w="1924078">
                  <a:extLst>
                    <a:ext uri="{9D8B030D-6E8A-4147-A177-3AD203B41FA5}">
                      <a16:colId xmlns:a16="http://schemas.microsoft.com/office/drawing/2014/main" val="383470474"/>
                    </a:ext>
                  </a:extLst>
                </a:gridCol>
              </a:tblGrid>
              <a:tr h="383550">
                <a:tc>
                  <a:txBody>
                    <a:bodyPr/>
                    <a:lstStyle/>
                    <a:p>
                      <a:r>
                        <a:rPr lang="en-US" sz="1700"/>
                        <a:t>Model 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Strengths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Suitability</a:t>
                      </a:r>
                    </a:p>
                  </a:txBody>
                  <a:tcPr marL="88350" marR="88350" marT="44176" marB="44176"/>
                </a:tc>
                <a:extLst>
                  <a:ext uri="{0D108BD9-81ED-4DB2-BD59-A6C34878D82A}">
                    <a16:rowId xmlns:a16="http://schemas.microsoft.com/office/drawing/2014/main" val="3959699125"/>
                  </a:ext>
                </a:extLst>
              </a:tr>
              <a:tr h="900909">
                <a:tc>
                  <a:txBody>
                    <a:bodyPr/>
                    <a:lstStyle/>
                    <a:p>
                      <a:r>
                        <a:rPr lang="en-US" sz="1700"/>
                        <a:t>Random Forest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Fast, interpretable, robust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Best for imbalanced data</a:t>
                      </a:r>
                    </a:p>
                  </a:txBody>
                  <a:tcPr marL="88350" marR="88350" marT="44176" marB="44176"/>
                </a:tc>
                <a:extLst>
                  <a:ext uri="{0D108BD9-81ED-4DB2-BD59-A6C34878D82A}">
                    <a16:rowId xmlns:a16="http://schemas.microsoft.com/office/drawing/2014/main" val="892596137"/>
                  </a:ext>
                </a:extLst>
              </a:tr>
              <a:tr h="1159589">
                <a:tc>
                  <a:txBody>
                    <a:bodyPr/>
                    <a:lstStyle/>
                    <a:p>
                      <a:r>
                        <a:rPr lang="en-US" sz="1700"/>
                        <a:t>SVM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Effective in high-dimensional spaces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Works well with clear margins</a:t>
                      </a:r>
                    </a:p>
                  </a:txBody>
                  <a:tcPr marL="88350" marR="88350" marT="44176" marB="44176"/>
                </a:tc>
                <a:extLst>
                  <a:ext uri="{0D108BD9-81ED-4DB2-BD59-A6C34878D82A}">
                    <a16:rowId xmlns:a16="http://schemas.microsoft.com/office/drawing/2014/main" val="4195293553"/>
                  </a:ext>
                </a:extLst>
              </a:tr>
              <a:tr h="642230">
                <a:tc>
                  <a:txBody>
                    <a:bodyPr/>
                    <a:lstStyle/>
                    <a:p>
                      <a:r>
                        <a:rPr lang="en-US" sz="1700"/>
                        <a:t>XGBoost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High accuracy, handles noise</a:t>
                      </a:r>
                    </a:p>
                  </a:txBody>
                  <a:tcPr marL="88350" marR="88350" marT="44176" marB="44176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Best overall performer</a:t>
                      </a:r>
                    </a:p>
                  </a:txBody>
                  <a:tcPr marL="88350" marR="88350" marT="44176" marB="44176"/>
                </a:tc>
                <a:extLst>
                  <a:ext uri="{0D108BD9-81ED-4DB2-BD59-A6C34878D82A}">
                    <a16:rowId xmlns:a16="http://schemas.microsoft.com/office/drawing/2014/main" val="16893802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CF71A0-D198-9A92-C166-911313CD9E03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5624E-7163-DD2B-C8C7-D19CE30ABEE9}"/>
              </a:ext>
            </a:extLst>
          </p:cNvPr>
          <p:cNvSpPr txBox="1"/>
          <p:nvPr/>
        </p:nvSpPr>
        <p:spPr>
          <a:xfrm>
            <a:off x="142568" y="6426776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Jyothi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</a:p>
        </p:txBody>
      </p:sp>
    </p:spTree>
    <p:extLst>
      <p:ext uri="{BB962C8B-B14F-4D97-AF65-F5344CB8AC3E}">
        <p14:creationId xmlns:p14="http://schemas.microsoft.com/office/powerpoint/2010/main" val="11031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12F3A3-A3A2-E5BA-E242-5A019F83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Results</a:t>
            </a:r>
          </a:p>
        </p:txBody>
      </p:sp>
      <p:pic>
        <p:nvPicPr>
          <p:cNvPr id="6" name="Picture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81BBD48F-5EC6-8D24-82D1-AA9DF6921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8865" y="1787655"/>
            <a:ext cx="4697983" cy="2880306"/>
          </a:xfrm>
          <a:prstGeom prst="rect">
            <a:avLst/>
          </a:prstGeom>
          <a:noFill/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4B85460-2A65-D656-231F-58A0F0E5F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1894775"/>
            <a:ext cx="4955852" cy="26841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BD422-7DF6-1293-DC1E-155DF0272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545394"/>
            <a:ext cx="9496427" cy="91021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80%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Detection: Precision 0.50, Recall 0.77, F1 0.61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BF6CC-ECDB-A8BB-0632-FF1F6568ED62}"/>
              </a:ext>
            </a:extLst>
          </p:cNvPr>
          <p:cNvSpPr txBox="1"/>
          <p:nvPr/>
        </p:nvSpPr>
        <p:spPr>
          <a:xfrm>
            <a:off x="1464088" y="4877483"/>
            <a:ext cx="424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44492-3D16-0582-6DED-1447A6384C72}"/>
              </a:ext>
            </a:extLst>
          </p:cNvPr>
          <p:cNvSpPr txBox="1"/>
          <p:nvPr/>
        </p:nvSpPr>
        <p:spPr>
          <a:xfrm>
            <a:off x="6267671" y="4877483"/>
            <a:ext cx="424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B9CFC-0736-3671-D311-5BC1729C821B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406510-88F2-3E85-4921-F7F48B139128}"/>
              </a:ext>
            </a:extLst>
          </p:cNvPr>
          <p:cNvSpPr txBox="1"/>
          <p:nvPr/>
        </p:nvSpPr>
        <p:spPr>
          <a:xfrm>
            <a:off x="142568" y="6426776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Jyothi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</a:p>
        </p:txBody>
      </p:sp>
    </p:spTree>
    <p:extLst>
      <p:ext uri="{BB962C8B-B14F-4D97-AF65-F5344CB8AC3E}">
        <p14:creationId xmlns:p14="http://schemas.microsoft.com/office/powerpoint/2010/main" val="220127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233E1-05E9-1808-979F-3F01EB74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B6F0D1-16B5-8B7E-B679-C2661A5D1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C5D9F-DF8E-FEF9-FF3C-C0D4338E2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1179B01-8291-E516-BC4B-4266B14A1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C424B3-CE58-6EF3-0E8B-8F3ECB30E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6147C7-6F0C-C531-1C96-B0ED940B4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D2A57D4-312A-9199-F094-8E62AE43E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262E-03F8-7ECD-B2FA-543EE72A0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545394"/>
            <a:ext cx="9496427" cy="91021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75%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Detection: Precision 0.47, Recall 0.72, F1 0.57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7E1E3-16AB-7F2C-D3A6-95473FE0538D}"/>
              </a:ext>
            </a:extLst>
          </p:cNvPr>
          <p:cNvSpPr txBox="1"/>
          <p:nvPr/>
        </p:nvSpPr>
        <p:spPr>
          <a:xfrm>
            <a:off x="1464088" y="4877483"/>
            <a:ext cx="424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8478F-BF01-EF14-BFF5-E1A51E952521}"/>
              </a:ext>
            </a:extLst>
          </p:cNvPr>
          <p:cNvSpPr txBox="1"/>
          <p:nvPr/>
        </p:nvSpPr>
        <p:spPr>
          <a:xfrm>
            <a:off x="6267671" y="4877483"/>
            <a:ext cx="424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</a:p>
        </p:txBody>
      </p:sp>
      <p:pic>
        <p:nvPicPr>
          <p:cNvPr id="4" name="Picture 3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61EFF54E-0AE4-80AD-1200-01DF94F6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762" y="1787655"/>
            <a:ext cx="4697982" cy="2863210"/>
          </a:xfrm>
          <a:prstGeom prst="rect">
            <a:avLst/>
          </a:prstGeom>
        </p:spPr>
      </p:pic>
      <p:pic>
        <p:nvPicPr>
          <p:cNvPr id="9" name="Picture 8" descr="A graph with blue squares and numbers&#10;&#10;AI-generated content may be incorrect.">
            <a:extLst>
              <a:ext uri="{FF2B5EF4-FFF2-40B4-BE49-F238E27FC236}">
                <a16:creationId xmlns:a16="http://schemas.microsoft.com/office/drawing/2014/main" id="{4062B8BF-C2AB-ACC4-20D2-CE3E6450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8" y="1669143"/>
            <a:ext cx="4738687" cy="32423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8A3D80-195D-251B-DE41-B59127A5FC2E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26544-2932-7A33-CB76-AEF9052EA2CC}"/>
              </a:ext>
            </a:extLst>
          </p:cNvPr>
          <p:cNvSpPr txBox="1"/>
          <p:nvPr/>
        </p:nvSpPr>
        <p:spPr>
          <a:xfrm>
            <a:off x="142568" y="6426776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Jyothi</a:t>
            </a:r>
          </a:p>
        </p:txBody>
      </p:sp>
    </p:spTree>
    <p:extLst>
      <p:ext uri="{BB962C8B-B14F-4D97-AF65-F5344CB8AC3E}">
        <p14:creationId xmlns:p14="http://schemas.microsoft.com/office/powerpoint/2010/main" val="3460058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F27EA-BC07-D467-B6CF-328CE6F2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A7AC41-7788-55EE-C726-D3476F6B9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218F4C-5DBA-B0A4-6E56-DE9E95558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4016D3-9F19-0A00-BD77-18199BCC3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E3CE7D0-F424-2983-E809-DC1648904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FE9F9A-8810-ABD6-A242-95A5E921B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4BF398-A461-697D-D5C6-10EE4405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1E73E-71FD-95E5-26E8-5908CE07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374182"/>
            <a:ext cx="10108026" cy="136085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81% (best performer)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Detection: Precision 0.51, Recall 0.86, F1 0.64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 Access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https://colab.research.google.com/drive/1l8I405PbeKM4Z7574LZFapjgwoEJbiSY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55520-EB75-F2EA-4F46-6AD54EF6F57A}"/>
              </a:ext>
            </a:extLst>
          </p:cNvPr>
          <p:cNvSpPr txBox="1"/>
          <p:nvPr/>
        </p:nvSpPr>
        <p:spPr>
          <a:xfrm>
            <a:off x="1371598" y="5032822"/>
            <a:ext cx="424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9F108-DEB1-386F-47D7-0B7021D65386}"/>
              </a:ext>
            </a:extLst>
          </p:cNvPr>
          <p:cNvSpPr txBox="1"/>
          <p:nvPr/>
        </p:nvSpPr>
        <p:spPr>
          <a:xfrm>
            <a:off x="6297167" y="4919776"/>
            <a:ext cx="424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86BB5DE-DBFD-6E7C-928E-796131C91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45" y="1874039"/>
            <a:ext cx="4882051" cy="2960663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55E80C18-BF6D-D956-ECDB-3142DD01C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45" y="1874038"/>
            <a:ext cx="5268255" cy="30725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7CBA0A-F322-D1BC-A2B5-DB49964C853C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D2F36E-B394-D868-6CA6-C8091CDB3A03}"/>
              </a:ext>
            </a:extLst>
          </p:cNvPr>
          <p:cNvSpPr txBox="1"/>
          <p:nvPr/>
        </p:nvSpPr>
        <p:spPr>
          <a:xfrm>
            <a:off x="142568" y="6426776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Jyothi</a:t>
            </a:r>
          </a:p>
        </p:txBody>
      </p:sp>
    </p:spTree>
    <p:extLst>
      <p:ext uri="{BB962C8B-B14F-4D97-AF65-F5344CB8AC3E}">
        <p14:creationId xmlns:p14="http://schemas.microsoft.com/office/powerpoint/2010/main" val="109764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7DC85-D99F-D5F5-454B-22FAF187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8D22-AC7E-801A-0D20-A7ADD2E31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186639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 for all models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XGBoost &gt; RF &gt; SVM in DoS classification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E8EEDD4-48D4-BB6A-6D7C-215B0A9DD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337" y="1070545"/>
            <a:ext cx="6062347" cy="4637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317052-634C-6E94-2D5D-96D0C8B3B125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E8DF0-B937-6618-1B01-2B5F6F92355C}"/>
              </a:ext>
            </a:extLst>
          </p:cNvPr>
          <p:cNvSpPr txBox="1"/>
          <p:nvPr/>
        </p:nvSpPr>
        <p:spPr>
          <a:xfrm>
            <a:off x="142568" y="6388261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 Sanh</a:t>
            </a:r>
          </a:p>
        </p:txBody>
      </p:sp>
    </p:spTree>
    <p:extLst>
      <p:ext uri="{BB962C8B-B14F-4D97-AF65-F5344CB8AC3E}">
        <p14:creationId xmlns:p14="http://schemas.microsoft.com/office/powerpoint/2010/main" val="2681523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5B9FA-85BA-5CC1-FA54-EDBE4581E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89D8F-2022-5FBB-3B1E-B7E79EE25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288834"/>
            <a:ext cx="5609302" cy="197564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full ML pipeline from data ingestion to evaluation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 distribution successfully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models with strong detection rates</a:t>
            </a:r>
          </a:p>
        </p:txBody>
      </p:sp>
      <p:pic>
        <p:nvPicPr>
          <p:cNvPr id="5" name="Picture 4" descr="A graph showing the results of a bar graph&#10;&#10;AI-generated content may be incorrect.">
            <a:extLst>
              <a:ext uri="{FF2B5EF4-FFF2-40B4-BE49-F238E27FC236}">
                <a16:creationId xmlns:a16="http://schemas.microsoft.com/office/drawing/2014/main" id="{CFE071F6-37AF-07BD-B554-3ADFD37B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442" y="405899"/>
            <a:ext cx="4562273" cy="34167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0D9852-5D98-D062-498E-D2A003E39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204401"/>
              </p:ext>
            </p:extLst>
          </p:nvPr>
        </p:nvGraphicFramePr>
        <p:xfrm>
          <a:off x="7039791" y="4070555"/>
          <a:ext cx="4562264" cy="19756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2517">
                  <a:extLst>
                    <a:ext uri="{9D8B030D-6E8A-4147-A177-3AD203B41FA5}">
                      <a16:colId xmlns:a16="http://schemas.microsoft.com/office/drawing/2014/main" val="4129134038"/>
                    </a:ext>
                  </a:extLst>
                </a:gridCol>
                <a:gridCol w="1204678">
                  <a:extLst>
                    <a:ext uri="{9D8B030D-6E8A-4147-A177-3AD203B41FA5}">
                      <a16:colId xmlns:a16="http://schemas.microsoft.com/office/drawing/2014/main" val="1015850577"/>
                    </a:ext>
                  </a:extLst>
                </a:gridCol>
                <a:gridCol w="936529">
                  <a:extLst>
                    <a:ext uri="{9D8B030D-6E8A-4147-A177-3AD203B41FA5}">
                      <a16:colId xmlns:a16="http://schemas.microsoft.com/office/drawing/2014/main" val="3971555336"/>
                    </a:ext>
                  </a:extLst>
                </a:gridCol>
                <a:gridCol w="1238540">
                  <a:extLst>
                    <a:ext uri="{9D8B030D-6E8A-4147-A177-3AD203B41FA5}">
                      <a16:colId xmlns:a16="http://schemas.microsoft.com/office/drawing/2014/main" val="1017043789"/>
                    </a:ext>
                  </a:extLst>
                </a:gridCol>
              </a:tblGrid>
              <a:tr h="64667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Model 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Accuracy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Macro F1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Weighted F1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extLst>
                  <a:ext uri="{0D108BD9-81ED-4DB2-BD59-A6C34878D82A}">
                    <a16:rowId xmlns:a16="http://schemas.microsoft.com/office/drawing/2014/main" val="4287154070"/>
                  </a:ext>
                </a:extLst>
              </a:tr>
              <a:tr h="34114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XGBoost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81%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0.68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0.82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extLst>
                  <a:ext uri="{0D108BD9-81ED-4DB2-BD59-A6C34878D82A}">
                    <a16:rowId xmlns:a16="http://schemas.microsoft.com/office/drawing/2014/main" val="1104635590"/>
                  </a:ext>
                </a:extLst>
              </a:tr>
              <a:tr h="64667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Random Forest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80%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0.65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0.80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extLst>
                  <a:ext uri="{0D108BD9-81ED-4DB2-BD59-A6C34878D82A}">
                    <a16:rowId xmlns:a16="http://schemas.microsoft.com/office/drawing/2014/main" val="4168541744"/>
                  </a:ext>
                </a:extLst>
              </a:tr>
              <a:tr h="34114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SVM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75%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0.53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 dirty="0">
                          <a:effectLst/>
                        </a:rPr>
                        <a:t>0.74</a:t>
                      </a:r>
                      <a:endParaRPr lang="en-US" sz="1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736" marR="95736" marT="0" marB="0"/>
                </a:tc>
                <a:extLst>
                  <a:ext uri="{0D108BD9-81ED-4DB2-BD59-A6C34878D82A}">
                    <a16:rowId xmlns:a16="http://schemas.microsoft.com/office/drawing/2014/main" val="41439599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4AED96C-4656-F12E-7CF0-7DF02E48AFEA}"/>
              </a:ext>
            </a:extLst>
          </p:cNvPr>
          <p:cNvSpPr txBox="1"/>
          <p:nvPr/>
        </p:nvSpPr>
        <p:spPr>
          <a:xfrm>
            <a:off x="7897002" y="6082769"/>
            <a:ext cx="337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Summary of Key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B8421-0CB1-53CF-B135-30EB12EA3003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D320F-70D4-7A0F-A886-5FCFEE60964F}"/>
              </a:ext>
            </a:extLst>
          </p:cNvPr>
          <p:cNvSpPr txBox="1"/>
          <p:nvPr/>
        </p:nvSpPr>
        <p:spPr>
          <a:xfrm>
            <a:off x="142568" y="6403009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 Sanh</a:t>
            </a:r>
          </a:p>
        </p:txBody>
      </p:sp>
    </p:spTree>
    <p:extLst>
      <p:ext uri="{BB962C8B-B14F-4D97-AF65-F5344CB8AC3E}">
        <p14:creationId xmlns:p14="http://schemas.microsoft.com/office/powerpoint/2010/main" val="3966715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CFEE8-2711-6B46-2822-E964E69CA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7F46C5-D2F3-E4F7-6029-86110FB46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56687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7D9EAB-9574-29E2-D118-0B2909D74F2A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E3866-7929-D5A3-7FAA-E302205F4F77}"/>
              </a:ext>
            </a:extLst>
          </p:cNvPr>
          <p:cNvSpPr txBox="1"/>
          <p:nvPr/>
        </p:nvSpPr>
        <p:spPr>
          <a:xfrm>
            <a:off x="142568" y="6388261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Sanh</a:t>
            </a:r>
          </a:p>
        </p:txBody>
      </p:sp>
    </p:spTree>
    <p:extLst>
      <p:ext uri="{BB962C8B-B14F-4D97-AF65-F5344CB8AC3E}">
        <p14:creationId xmlns:p14="http://schemas.microsoft.com/office/powerpoint/2010/main" val="3094618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7E003E-EE76-4207-A774-A645C37F1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50890-D2CA-C094-0989-7A6F56F2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962400" cy="5431376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DBE3B4-45A8-0907-02A0-90CE0F000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258866"/>
              </p:ext>
            </p:extLst>
          </p:nvPr>
        </p:nvGraphicFramePr>
        <p:xfrm>
          <a:off x="5511704" y="713313"/>
          <a:ext cx="5842095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D795DF6-E2F0-B5BF-2FA1-0B8EC4A57FBD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AF0B1-9F2E-0720-C388-A2B1B83F8751}"/>
              </a:ext>
            </a:extLst>
          </p:cNvPr>
          <p:cNvSpPr txBox="1"/>
          <p:nvPr/>
        </p:nvSpPr>
        <p:spPr>
          <a:xfrm>
            <a:off x="142568" y="6388261"/>
            <a:ext cx="2610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Sanh</a:t>
            </a:r>
          </a:p>
        </p:txBody>
      </p:sp>
    </p:spTree>
    <p:extLst>
      <p:ext uri="{BB962C8B-B14F-4D97-AF65-F5344CB8AC3E}">
        <p14:creationId xmlns:p14="http://schemas.microsoft.com/office/powerpoint/2010/main" val="685129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37ED-56B9-E377-6900-2F786A1D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514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C4BE-B14D-3DA2-37CC-1DC5C7470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640"/>
            <a:ext cx="10515600" cy="5159323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Moustafa, N., &amp; Slay, J. (2015).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UNSW-NB15: A comprehensive data set for network intrusion detection systems (UNSW-NB15 network data set)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2015 Military Communications and Information Systems Conference (MilCIS), 1–6.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https://doi.org/10.1109/MilCIS.2015.7348942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Sarker, I. H. (2020).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data science: An overview from a machine learning perspective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Big Data, 7(1), 1–29.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https://doi.org/10.1186/s40537-020-00318-5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Alazab, M. A. (2021).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cybersecurity: A comprehensive review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Access, 9, 86144–86181.</a:t>
            </a:r>
          </a:p>
          <a:p>
            <a:pPr marL="457200" indent="-4572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N. T. (2020).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Denial-of-service attacks and their mitigation techniques: A review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Computer Sciences and Engineering, 8(1), 15–24.</a:t>
            </a:r>
          </a:p>
          <a:p>
            <a:pPr marL="457200" indent="-4572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Verma, A., &amp; Ranga, V. (2020).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IDS using supervised machine learning algorithms with feature selection methods on UNSW-NB15 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ICT Express, 6(4), 325–331.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https://doi.org/10.1016/j.icte.2020.09.002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Buda, M., Maki, A., &amp; Mazurowski, M. A. (2018).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study of the class imbalance problem in convolutional neural networks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Neural Networks, 106, 249–259.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https://doi.org/10.1016/j.neunet.2018.07.011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Aljawarneh, S., Aldwairi, M., &amp; Yassein, M. B. (2018).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Anomaly-based intrusion detection system through feature selection analysis and building hybrid efficient model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Computational Science, 25, 152–160.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https://doi.org/10.1016/j.jocs.2017.03.006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Shone, N., Ngoc, T. N., Phai, V. D., &amp; Shi, Q. (2018).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approach to network intrusion detection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Access, 6, 21954–21961.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https://ieeexplore.ieee.org/document/8264962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OpenAI. (2025). ChatGPT. Retrieved from ChatGP-4: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https://chatgpt.com/c/67da3e3a-7b94-800f-ab3a-a48c2eb43701</a:t>
            </a:r>
            <a:endParaRPr lang="en-US" sz="16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0D9B9-AA39-8CC8-1B2F-AC736F18ADF7}"/>
              </a:ext>
            </a:extLst>
          </p:cNvPr>
          <p:cNvSpPr txBox="1"/>
          <p:nvPr/>
        </p:nvSpPr>
        <p:spPr>
          <a:xfrm>
            <a:off x="11636477" y="6365700"/>
            <a:ext cx="41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2337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57F0A-2716-E9DB-7E46-8C60DE5E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F064-0726-7865-1C82-73A320197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Questions??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269900EB-E716-501B-E5C8-1ACFDD3B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9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4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988</Words>
  <Application>Microsoft Office PowerPoint</Application>
  <PresentationFormat>Widescreen</PresentationFormat>
  <Paragraphs>156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Executive Summary</vt:lpstr>
      <vt:lpstr>Dataset Overview</vt:lpstr>
      <vt:lpstr>Data Preprocessing</vt:lpstr>
      <vt:lpstr>Feature Engineering</vt:lpstr>
      <vt:lpstr>ML Models Used</vt:lpstr>
      <vt:lpstr>Random Forest Results</vt:lpstr>
      <vt:lpstr>SVM Results</vt:lpstr>
      <vt:lpstr>XGBoost Results</vt:lpstr>
      <vt:lpstr>Performance Comparison</vt:lpstr>
      <vt:lpstr>Achievements</vt:lpstr>
      <vt:lpstr>Limitations &amp; Future Work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Jyothi Ravipati Ravipati</dc:creator>
  <cp:lastModifiedBy>Jyothi Ravipati Ravipati</cp:lastModifiedBy>
  <cp:revision>83</cp:revision>
  <dcterms:created xsi:type="dcterms:W3CDTF">2025-05-26T08:36:36Z</dcterms:created>
  <dcterms:modified xsi:type="dcterms:W3CDTF">2025-05-27T03:24:06Z</dcterms:modified>
</cp:coreProperties>
</file>